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Branches let you isolate work—a lab feature, a bugfix, a submission—without destabilizing main. Good names are short, searchable, and follow a prefix like feature or fix. This module practices naming conventions and creating branches from an updated main.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a typed prefix—feature slash, fix slash, hotfix slash—then a kebab-case slug that says what the branch is for. Branch from main after you have fetched the latest tip, not from random work in progress. One concern per branch keeps reviews and merges readable.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look at three pieces: the challenge card, the prefix cheat sheet, and the name-and-create panel with validation feedback. Load the starter example, draft a name like feature slash alu-mul, and create the branch from main. Use Check when you think a challenge is done. You do not need a full tour here—the lab itself guides the rest. Explore a few challenges, then come back for the real Git track.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real Git track, start on main with one committed file. List branches so you see the current star marker. Create and switch to a feature branch with checkout minus b and a clear name. Make a small commit on that branch, list branches again, then switch back to main and show a one-line log with all refs. That isolates the feature work until you merge it later.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use spaces or vague names like my branch. Do not branch from a stale main when the team expects you to fetch first. Delete merged feature branches so the list stays short. And remember: the browser lab is for literacy—real pull requests still need sensible branch names in a real repo.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load the starter and fix a few weak branch names until validation passes. On real Git, create a feature branch, commit once, and switch back to main. When you are ready, take the short quiz, then continue to the next module on merge conflicts.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Branch naming</a:t>
            </a:r>
          </a:p>
          <a:p>
            <a:pPr algn="ctr">
              <a:lnSpc>
                <a:spcPts val="2200"/>
              </a:lnSpc>
              <a:spcBef>
                <a:spcPts val="1400"/>
              </a:spcBef>
            </a:pPr>
            <a:r>
              <a:rPr sz="2600" b="0">
                <a:solidFill>
                  <a:srgbClr val="333333"/>
                </a:solidFill>
                <a:latin typeface="Calibri"/>
              </a:rPr>
              <a:t>Branches let you isolate work, a lab feature, a bugfix, a submission, without destabilizing main</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branch strategy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Prefix, slug, then branch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Use a typed prefix</a:t>
            </a:r>
          </a:p>
          <a:p>
            <a:pPr lvl="0" marL="457200" indent="-228600">
              <a:buFont typeface="Calibri"/>
              <a:spcAft>
                <a:spcPts val="1000"/>
              </a:spcAft>
              <a:buSzPct val="100000"/>
              <a:buChar char="•"/>
              <a:lnSpc>
                <a:spcPts val="2200"/>
              </a:lnSpc>
            </a:pPr>
            <a:r>
              <a:rPr sz="2000" b="0">
                <a:solidFill>
                  <a:srgbClr val="333333"/>
                </a:solidFill>
                <a:latin typeface="Calibri"/>
              </a:rPr>
              <a:t>Branch from main after you have fetched the latest tip, not from random work in progress</a:t>
            </a:r>
          </a:p>
          <a:p>
            <a:pPr lvl="0" marL="457200" indent="-228600">
              <a:buFont typeface="Calibri"/>
              <a:spcAft>
                <a:spcPts val="1000"/>
              </a:spcAft>
              <a:buSzPct val="100000"/>
              <a:buChar char="•"/>
              <a:lnSpc>
                <a:spcPts val="2200"/>
              </a:lnSpc>
            </a:pPr>
            <a:r>
              <a:rPr sz="2000" b="0">
                <a:solidFill>
                  <a:srgbClr val="333333"/>
                </a:solidFill>
                <a:latin typeface="Calibri"/>
              </a:rPr>
              <a:t>One concern per branch keeps reviews and merges readable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branch strategy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65024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Branch naming lab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branch strategy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Git practice</a:t>
            </a:r>
          </a:p>
        </p:txBody>
      </p:sp>
      <p:pic>
        <p:nvPicPr>
          <p:cNvPr id="3" name="Picture 2" descr="real-shell.png"/>
          <p:cNvPicPr>
            <a:picLocks noChangeAspect="1"/>
          </p:cNvPicPr>
          <p:nvPr/>
        </p:nvPicPr>
        <p:blipFill>
          <a:blip r:embed="rId2"/>
          <a:stretch>
            <a:fillRect/>
          </a:stretch>
        </p:blipFill>
        <p:spPr>
          <a:xfrm>
            <a:off x="548640" y="1143000"/>
            <a:ext cx="6560343" cy="4571999"/>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Real shell — create and switch branches</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branch strategy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Git practice — try these</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600"/>
              </a:spcAft>
            </a:pPr>
            <a:r>
              <a:rPr sz="2000" b="0">
                <a:solidFill>
                  <a:srgbClr val="333333"/>
                </a:solidFill>
                <a:latin typeface="Consolas"/>
              </a:rPr>
              <a:t># git init — create a new repository here</a:t>
            </a:r>
          </a:p>
          <a:p>
            <a:pPr>
              <a:lnSpc>
                <a:spcPts val="2200"/>
              </a:lnSpc>
              <a:spcAft>
                <a:spcPts val="600"/>
              </a:spcAft>
            </a:pPr>
            <a:r>
              <a:rPr sz="2000" b="0">
                <a:solidFill>
                  <a:srgbClr val="333333"/>
                </a:solidFill>
                <a:latin typeface="Consolas"/>
              </a:rPr>
              <a:t>git init</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echo … &gt; notes.md — create and commit on main</a:t>
            </a:r>
          </a:p>
          <a:p>
            <a:pPr>
              <a:lnSpc>
                <a:spcPts val="2200"/>
              </a:lnSpc>
              <a:spcAft>
                <a:spcPts val="600"/>
              </a:spcAft>
            </a:pPr>
            <a:r>
              <a:rPr sz="2000" b="0">
                <a:solidFill>
                  <a:srgbClr val="333333"/>
                </a:solidFill>
                <a:latin typeface="Consolas"/>
              </a:rPr>
              <a:t>echo "v1" &gt; notes.md</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git add notes.md</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git commit -m "Add notes"</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git branch -M main — name the default branch main</a:t>
            </a:r>
          </a:p>
          <a:p>
            <a:pPr>
              <a:lnSpc>
                <a:spcPts val="2200"/>
              </a:lnSpc>
              <a:spcAft>
                <a:spcPts val="600"/>
              </a:spcAft>
            </a:pPr>
            <a:r>
              <a:rPr sz="2000" b="0">
                <a:solidFill>
                  <a:srgbClr val="333333"/>
                </a:solidFill>
                <a:latin typeface="Consolas"/>
              </a:rPr>
              <a:t>git branch -M main</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git branch — list branches; star marks current</a:t>
            </a:r>
          </a:p>
          <a:p>
            <a:pPr>
              <a:lnSpc>
                <a:spcPts val="2200"/>
              </a:lnSpc>
              <a:spcAft>
                <a:spcPts val="600"/>
              </a:spcAft>
            </a:pPr>
            <a:r>
              <a:rPr sz="2000" b="0">
                <a:solidFill>
                  <a:srgbClr val="333333"/>
                </a:solidFill>
                <a:latin typeface="Consolas"/>
              </a:rPr>
              <a:t>git branch</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git checkout -b feature/readme-update — create and switch</a:t>
            </a:r>
          </a:p>
          <a:p>
            <a:pPr>
              <a:lnSpc>
                <a:spcPts val="2200"/>
              </a:lnSpc>
              <a:spcAft>
                <a:spcPts val="600"/>
              </a:spcAft>
            </a:pPr>
            <a:r>
              <a:rPr sz="2000" b="0">
                <a:solidFill>
                  <a:srgbClr val="333333"/>
                </a:solidFill>
                <a:latin typeface="Consolas"/>
              </a:rPr>
              <a:t>git checkout -b feature/readme-update</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echo … &gt;&gt; notes.md — edit on the feature branch</a:t>
            </a:r>
          </a:p>
          <a:p>
            <a:pPr>
              <a:lnSpc>
                <a:spcPts val="2200"/>
              </a:lnSpc>
              <a:spcAft>
                <a:spcPts val="600"/>
              </a:spcAft>
            </a:pPr>
            <a:r>
              <a:rPr sz="2000" b="0">
                <a:solidFill>
                  <a:srgbClr val="333333"/>
                </a:solidFill>
                <a:latin typeface="Consolas"/>
              </a:rPr>
              <a:t>echo "feature edit" &gt;&gt; notes.md</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branch strategy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use spaces or vague names like my branch</a:t>
            </a:r>
          </a:p>
          <a:p>
            <a:pPr lvl="0" marL="457200" indent="-228600">
              <a:buFont typeface="Calibri"/>
              <a:spcAft>
                <a:spcPts val="1000"/>
              </a:spcAft>
              <a:buSzPct val="100000"/>
              <a:buChar char="•"/>
              <a:lnSpc>
                <a:spcPts val="2200"/>
              </a:lnSpc>
            </a:pPr>
            <a:r>
              <a:rPr sz="2000" b="0">
                <a:solidFill>
                  <a:srgbClr val="333333"/>
                </a:solidFill>
                <a:latin typeface="Calibri"/>
              </a:rPr>
              <a:t>Do not branch from a stale main when the team expects you to fetch first</a:t>
            </a:r>
          </a:p>
          <a:p>
            <a:pPr lvl="0" marL="457200" indent="-228600">
              <a:buFont typeface="Calibri"/>
              <a:spcAft>
                <a:spcPts val="1000"/>
              </a:spcAft>
              <a:buSzPct val="100000"/>
              <a:buChar char="•"/>
              <a:lnSpc>
                <a:spcPts val="2200"/>
              </a:lnSpc>
            </a:pPr>
            <a:r>
              <a:rPr sz="2000" b="0">
                <a:solidFill>
                  <a:srgbClr val="333333"/>
                </a:solidFill>
                <a:latin typeface="Calibri"/>
              </a:rPr>
              <a:t>Delete merged feature branches so the list stays short</a:t>
            </a:r>
          </a:p>
          <a:p>
            <a:pPr lvl="0" marL="457200" indent="-228600">
              <a:buFont typeface="Calibri"/>
              <a:spcAft>
                <a:spcPts val="1000"/>
              </a:spcAft>
              <a:buSzPct val="100000"/>
              <a:buChar char="•"/>
              <a:lnSpc>
                <a:spcPts val="2200"/>
              </a:lnSpc>
            </a:pPr>
            <a:r>
              <a:rPr sz="2000" b="0">
                <a:solidFill>
                  <a:srgbClr val="333333"/>
                </a:solidFill>
                <a:latin typeface="Calibri"/>
              </a:rPr>
              <a:t>And remember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branch strategy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 load the starter and fix a few weak branch names until validation passes</a:t>
            </a:r>
          </a:p>
          <a:p>
            <a:pPr lvl="0" marL="457200" indent="-228600">
              <a:buFont typeface="Calibri"/>
              <a:spcAft>
                <a:spcPts val="1000"/>
              </a:spcAft>
              <a:buSzPct val="100000"/>
              <a:buChar char="•"/>
              <a:lnSpc>
                <a:spcPts val="2200"/>
              </a:lnSpc>
            </a:pPr>
            <a:r>
              <a:rPr sz="2000" b="0">
                <a:solidFill>
                  <a:srgbClr val="333333"/>
                </a:solidFill>
                <a:latin typeface="Calibri"/>
              </a:rPr>
              <a:t>On real Git, create a feature branch, commit once, and switch back to main</a:t>
            </a:r>
          </a:p>
          <a:p>
            <a:pPr lvl="0" marL="457200" indent="-228600">
              <a:buFont typeface="Calibri"/>
              <a:spcAft>
                <a:spcPts val="1000"/>
              </a:spcAft>
              <a:buSzPct val="100000"/>
              <a:buChar char="•"/>
              <a:lnSpc>
                <a:spcPts val="2200"/>
              </a:lnSpc>
            </a:pPr>
            <a:r>
              <a:rPr sz="2000" b="0">
                <a:solidFill>
                  <a:srgbClr val="333333"/>
                </a:solidFill>
                <a:latin typeface="Calibri"/>
              </a:rPr>
              <a:t>When you are ready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branch strategy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