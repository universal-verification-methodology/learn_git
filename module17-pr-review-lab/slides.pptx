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pull request is more than a merge button—it is a review conversation. Good reviewers ask: is the diff small enough to understand, is there test or simulation evidence, is the diff clean of build artifacts and secrets, and does the description say why and how to verify? This module trains that checklist before you submit or approve real coursework PRs.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each PR to one concern so reviewers can hold the change in their head. RTL or testbench edits should mention how you verified—make sim, a TB run, or a green CI job. Hygiene means no wave dumps, log files, or secrets in the diff—only source and docs that belong in version control. The description should explain what changed and how a reviewer can reproduce your result. Approve when all four pass, comment for nits or missing context, and request changes when something blocks merge.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load the starter example and walk the sample pull requests. Look at three regions: the review checklist on the right, the diff sketch in the middle, and the challenge panel above. Tick size, tests, hygiene, and description when each passes, then choose approve, comment, or request changes. Use Check on challenges when your verdict matches the scenario. You do not need a full tour here—the lab itself guides the rest. Review a few PRs, then come back for the real Git track.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Git track, create a small feature branch from main with one focused commit. Show the commit range your reviewer would see with log and diff against main. Add a follow-up commit as if you addressed review feedback, then inspect the updated diff. Finally merge into main locally—the same end state as an approved pull request on GitHub.</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approve mega-diffs that mix refactor with feature work—ask for a split. Never merge secrets or generated waves even if the RTL change is correct. A thin description on a risky fix deserves request changes, not a silent approve. Draft or work-in-progress PRs get light comments, not the same bar as ready-to-merge. And remember: the browser lab is for literacy—real team reviews still need your judgment on every diff hunk.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the starter and practice approve versus request changes on a few PRs. On real Git, review a branch with log and diff before merging. When you are ready, take the short quiz, then continue to the next module on submodule pitfalls.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PR review checklist</a:t>
            </a:r>
          </a:p>
          <a:p>
            <a:pPr algn="ctr">
              <a:lnSpc>
                <a:spcPts val="2200"/>
              </a:lnSpc>
              <a:spcBef>
                <a:spcPts val="1400"/>
              </a:spcBef>
            </a:pPr>
            <a:r>
              <a:rPr sz="2600" b="0">
                <a:solidFill>
                  <a:srgbClr val="333333"/>
                </a:solidFill>
                <a:latin typeface="Calibri"/>
              </a:rPr>
              <a:t>A pull request is more than a merge button, it is a review conversation</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pr review 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Size, tests, hygiene, description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Keep each PR to one concern so reviewers can hold the change in their head</a:t>
            </a:r>
          </a:p>
          <a:p>
            <a:pPr lvl="0" marL="457200" indent="-228600">
              <a:buFont typeface="Calibri"/>
              <a:spcAft>
                <a:spcPts val="1000"/>
              </a:spcAft>
              <a:buSzPct val="100000"/>
              <a:buChar char="•"/>
              <a:lnSpc>
                <a:spcPts val="2200"/>
              </a:lnSpc>
            </a:pPr>
            <a:r>
              <a:rPr sz="2000" b="0">
                <a:solidFill>
                  <a:srgbClr val="333333"/>
                </a:solidFill>
                <a:latin typeface="Calibri"/>
              </a:rPr>
              <a:t>RTL or testbench edits should mention how you verified</a:t>
            </a:r>
          </a:p>
          <a:p>
            <a:pPr lvl="0" marL="457200" indent="-228600">
              <a:buFont typeface="Calibri"/>
              <a:spcAft>
                <a:spcPts val="1000"/>
              </a:spcAft>
              <a:buSzPct val="100000"/>
              <a:buChar char="•"/>
              <a:lnSpc>
                <a:spcPts val="2200"/>
              </a:lnSpc>
            </a:pPr>
            <a:r>
              <a:rPr sz="2000" b="0">
                <a:solidFill>
                  <a:srgbClr val="333333"/>
                </a:solidFill>
                <a:latin typeface="Calibri"/>
              </a:rPr>
              <a:t>Hygiene means no wave dumps</a:t>
            </a:r>
          </a:p>
          <a:p>
            <a:pPr lvl="0" marL="457200" indent="-228600">
              <a:buFont typeface="Calibri"/>
              <a:spcAft>
                <a:spcPts val="1000"/>
              </a:spcAft>
              <a:buSzPct val="100000"/>
              <a:buChar char="•"/>
              <a:lnSpc>
                <a:spcPts val="2200"/>
              </a:lnSpc>
            </a:pPr>
            <a:r>
              <a:rPr sz="2000" b="0">
                <a:solidFill>
                  <a:srgbClr val="333333"/>
                </a:solidFill>
                <a:latin typeface="Calibri"/>
              </a:rPr>
              <a:t>The description should explain what changed and how a reviewer can reproduce your result</a:t>
            </a:r>
          </a:p>
          <a:p>
            <a:pPr lvl="0" marL="457200" indent="-228600">
              <a:buFont typeface="Calibri"/>
              <a:spcAft>
                <a:spcPts val="1000"/>
              </a:spcAft>
              <a:buSzPct val="100000"/>
              <a:buChar char="•"/>
              <a:lnSpc>
                <a:spcPts val="2200"/>
              </a:lnSpc>
            </a:pPr>
            <a:r>
              <a:rPr sz="2000" b="0">
                <a:solidFill>
                  <a:srgbClr val="333333"/>
                </a:solidFill>
                <a:latin typeface="Calibri"/>
              </a:rPr>
              <a:t>Approve when all four pass, comment for nits or missing context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pr review lab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PR review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pr review lab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Git practice</a:t>
            </a:r>
          </a:p>
        </p:txBody>
      </p:sp>
      <p:pic>
        <p:nvPicPr>
          <p:cNvPr id="3" name="Picture 2" descr="real-shell.png"/>
          <p:cNvPicPr>
            <a:picLocks noChangeAspect="1"/>
          </p:cNvPicPr>
          <p:nvPr/>
        </p:nvPicPr>
        <p:blipFill>
          <a:blip r:embed="rId2"/>
          <a:stretch>
            <a:fillRect/>
          </a:stretch>
        </p:blipFill>
        <p:spPr>
          <a:xfrm>
            <a:off x="548640" y="1143000"/>
            <a:ext cx="3658928"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review a feature branch diff</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pr review lab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Git practice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600"/>
              </a:spcAft>
            </a:pPr>
            <a:r>
              <a:rPr sz="2000" b="0">
                <a:solidFill>
                  <a:srgbClr val="333333"/>
                </a:solidFill>
                <a:latin typeface="Consolas"/>
              </a:rPr>
              <a:t># git init — create a new repository here</a:t>
            </a:r>
          </a:p>
          <a:p>
            <a:pPr>
              <a:lnSpc>
                <a:spcPts val="2200"/>
              </a:lnSpc>
              <a:spcAft>
                <a:spcPts val="600"/>
              </a:spcAft>
            </a:pPr>
            <a:r>
              <a:rPr sz="2000" b="0">
                <a:solidFill>
                  <a:srgbClr val="333333"/>
                </a:solidFill>
                <a:latin typeface="Consolas"/>
              </a:rPr>
              <a:t>git init</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echo … &gt; README.md — first commit on main</a:t>
            </a:r>
          </a:p>
          <a:p>
            <a:pPr>
              <a:lnSpc>
                <a:spcPts val="2200"/>
              </a:lnSpc>
              <a:spcAft>
                <a:spcPts val="600"/>
              </a:spcAft>
            </a:pPr>
            <a:r>
              <a:rPr sz="2000" b="0">
                <a:solidFill>
                  <a:srgbClr val="333333"/>
                </a:solidFill>
                <a:latin typeface="Consolas"/>
              </a:rPr>
              <a:t>echo "v1" &gt; README.md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git add README.md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git commit -m "init"</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branch -M main — name the default branch main</a:t>
            </a:r>
          </a:p>
          <a:p>
            <a:pPr>
              <a:lnSpc>
                <a:spcPts val="2200"/>
              </a:lnSpc>
              <a:spcAft>
                <a:spcPts val="600"/>
              </a:spcAft>
            </a:pPr>
            <a:r>
              <a:rPr sz="2000" b="0">
                <a:solidFill>
                  <a:srgbClr val="333333"/>
                </a:solidFill>
                <a:latin typeface="Consolas"/>
              </a:rPr>
              <a:t>git branch -M main</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checkout -b feature/readme-update — branch for the PR</a:t>
            </a:r>
          </a:p>
          <a:p>
            <a:pPr>
              <a:lnSpc>
                <a:spcPts val="2200"/>
              </a:lnSpc>
              <a:spcAft>
                <a:spcPts val="600"/>
              </a:spcAft>
            </a:pPr>
            <a:r>
              <a:rPr sz="2000" b="0">
                <a:solidFill>
                  <a:srgbClr val="333333"/>
                </a:solidFill>
                <a:latin typeface="Consolas"/>
              </a:rPr>
              <a:t>git checkout -b feature/readme-update</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echo … &gt;&gt; README.md — one focused change</a:t>
            </a:r>
          </a:p>
          <a:p>
            <a:pPr>
              <a:lnSpc>
                <a:spcPts val="2200"/>
              </a:lnSpc>
              <a:spcAft>
                <a:spcPts val="600"/>
              </a:spcAft>
            </a:pPr>
            <a:r>
              <a:rPr sz="2000" b="0">
                <a:solidFill>
                  <a:srgbClr val="333333"/>
                </a:solidFill>
                <a:latin typeface="Consolas"/>
              </a:rPr>
              <a:t>echo "feature note" &gt;&gt; README.md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add README.md — stage only the intended file</a:t>
            </a:r>
          </a:p>
          <a:p>
            <a:pPr>
              <a:lnSpc>
                <a:spcPts val="2200"/>
              </a:lnSpc>
              <a:spcAft>
                <a:spcPts val="600"/>
              </a:spcAft>
            </a:pPr>
            <a:r>
              <a:rPr sz="2000" b="0">
                <a:solidFill>
                  <a:srgbClr val="333333"/>
                </a:solidFill>
                <a:latin typeface="Consolas"/>
              </a:rPr>
              <a:t>git add README.md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pr review lab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approve mega-diffs that mix refactor with feature work, ask for a split</a:t>
            </a:r>
          </a:p>
          <a:p>
            <a:pPr lvl="0" marL="457200" indent="-228600">
              <a:buFont typeface="Calibri"/>
              <a:spcAft>
                <a:spcPts val="1000"/>
              </a:spcAft>
              <a:buSzPct val="100000"/>
              <a:buChar char="•"/>
              <a:lnSpc>
                <a:spcPts val="2200"/>
              </a:lnSpc>
            </a:pPr>
            <a:r>
              <a:rPr sz="2000" b="0">
                <a:solidFill>
                  <a:srgbClr val="333333"/>
                </a:solidFill>
                <a:latin typeface="Calibri"/>
              </a:rPr>
              <a:t>Never merge secrets or generated waves even if the RTL change is correct</a:t>
            </a:r>
          </a:p>
          <a:p>
            <a:pPr lvl="0" marL="457200" indent="-228600">
              <a:buFont typeface="Calibri"/>
              <a:spcAft>
                <a:spcPts val="1000"/>
              </a:spcAft>
              <a:buSzPct val="100000"/>
              <a:buChar char="•"/>
              <a:lnSpc>
                <a:spcPts val="2200"/>
              </a:lnSpc>
            </a:pPr>
            <a:r>
              <a:rPr sz="2000" b="0">
                <a:solidFill>
                  <a:srgbClr val="333333"/>
                </a:solidFill>
                <a:latin typeface="Calibri"/>
              </a:rPr>
              <a:t>A thin description on a risky fix deserves request changes, not a silent approve</a:t>
            </a:r>
          </a:p>
          <a:p>
            <a:pPr lvl="0" marL="457200" indent="-228600">
              <a:buFont typeface="Calibri"/>
              <a:spcAft>
                <a:spcPts val="1000"/>
              </a:spcAft>
              <a:buSzPct val="100000"/>
              <a:buChar char="•"/>
              <a:lnSpc>
                <a:spcPts val="2200"/>
              </a:lnSpc>
            </a:pPr>
            <a:r>
              <a:rPr sz="2000" b="0">
                <a:solidFill>
                  <a:srgbClr val="333333"/>
                </a:solidFill>
                <a:latin typeface="Calibri"/>
              </a:rPr>
              <a:t>Draft or work-in-progress PRs get light comments, not the same bar as ready-to-merge</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pr review lab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load the starter and practice approve versus request changes on a few PRs</a:t>
            </a:r>
          </a:p>
          <a:p>
            <a:pPr lvl="0" marL="457200" indent="-228600">
              <a:buFont typeface="Calibri"/>
              <a:spcAft>
                <a:spcPts val="1000"/>
              </a:spcAft>
              <a:buSzPct val="100000"/>
              <a:buChar char="•"/>
              <a:lnSpc>
                <a:spcPts val="2200"/>
              </a:lnSpc>
            </a:pPr>
            <a:r>
              <a:rPr sz="2000" b="0">
                <a:solidFill>
                  <a:srgbClr val="333333"/>
                </a:solidFill>
                <a:latin typeface="Calibri"/>
              </a:rPr>
              <a:t>On real Git, review a branch with log and diff before merging</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pr review lab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