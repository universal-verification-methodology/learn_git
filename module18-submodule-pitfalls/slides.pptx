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submodule embeds another repository at a pinned commit—the parent stores a gitlink, not a copy of every file. That design is powerful for shared RTL or verification libraries, but it comes with sharp edges. Clone without init and the folder looks empty. Checkout inside the submodule is usually detached at the pinned SHA. Bump the library without committing the parent and teammates still get the old pin. This module teaches those pitfalls before they bite your chip repo.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normal clone, run submodule update init recursive—or clone with recurse submodules in one step. Inside the submodule, detached HEAD is normal: the parent chose a specific commit, not a branch tip. To move the pin, update the submodule checkout, then stage and commit the path in the parent so the gitlink changes. Push the submodule commit to its remote first if needed, then push the parent. Two repos, two push steps—easy to forget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example—you have cloned the chip repo but the vendor library folder is still empty. Look at three pitfall cards—forgotten init, detached HEAD, and pin updates—the repo tree, and the challenge panel above. Run init, inspect detached state, bump the pin, and commit the parent. Use Check when your scenario matches the challenge. You do not need a full tour here—the lab itself guides the rest. Work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build a parent repo with a library submodule pinned at an older commit. Clone the parent without initializing submodules and show the empty vendor path. Run submodule update init, read the library file, and show detached HEAD inside the submodule. Advance the library, check out the new SHA in the submodule, then commit the parent so the pin moves.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empty vendor or external folder after clone almost always means forgotten init—not a missing remote. Do not commit only inside the submodule and stop; the parent must record the new SHA. Detached HEAD inside a submodule is expected until you deliberately switch a branch for development. CI should clone with recurse submodules or run init in the build script. And remember: the browser lab is for literacy—real shared IP still needs disciplined pin bumps and pushes on both repos.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fix init, detached HEAD, and pin-update scenarios. On real Git, clone, init, inspect status inside the submodule, and bump the parent pin. When you are ready, take the short quiz, then continue to the next module on template-repo bootstrap.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Submodule pitfalls</a:t>
            </a:r>
          </a:p>
          <a:p>
            <a:pPr algn="ctr">
              <a:lnSpc>
                <a:spcPts val="2200"/>
              </a:lnSpc>
              <a:spcBef>
                <a:spcPts val="1400"/>
              </a:spcBef>
            </a:pPr>
            <a:r>
              <a:rPr sz="2600" b="0">
                <a:solidFill>
                  <a:srgbClr val="333333"/>
                </a:solidFill>
                <a:latin typeface="Calibri"/>
              </a:rPr>
              <a:t>A submodule embeds another repository at a pinned commit, the parent stores a gitlink, not a copy of every file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submodule pitfalls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Init, detached HEAD, pin bumps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After a normal clone</a:t>
            </a:r>
          </a:p>
          <a:p>
            <a:pPr lvl="0" marL="457200" indent="-228600">
              <a:buFont typeface="Calibri"/>
              <a:spcAft>
                <a:spcPts val="1000"/>
              </a:spcAft>
              <a:buSzPct val="100000"/>
              <a:buChar char="•"/>
              <a:lnSpc>
                <a:spcPts val="2200"/>
              </a:lnSpc>
            </a:pPr>
            <a:r>
              <a:rPr sz="2000" b="0">
                <a:solidFill>
                  <a:srgbClr val="333333"/>
                </a:solidFill>
                <a:latin typeface="Calibri"/>
              </a:rPr>
              <a:t>Inside the submodule, detached HEAD is normal</a:t>
            </a:r>
          </a:p>
          <a:p>
            <a:pPr lvl="0" marL="457200" indent="-228600">
              <a:buFont typeface="Calibri"/>
              <a:spcAft>
                <a:spcPts val="1000"/>
              </a:spcAft>
              <a:buSzPct val="100000"/>
              <a:buChar char="•"/>
              <a:lnSpc>
                <a:spcPts val="2200"/>
              </a:lnSpc>
            </a:pPr>
            <a:r>
              <a:rPr sz="2000" b="0">
                <a:solidFill>
                  <a:srgbClr val="333333"/>
                </a:solidFill>
                <a:latin typeface="Calibri"/>
              </a:rPr>
              <a:t>To move the pin</a:t>
            </a:r>
          </a:p>
          <a:p>
            <a:pPr lvl="0" marL="457200" indent="-228600">
              <a:buFont typeface="Calibri"/>
              <a:spcAft>
                <a:spcPts val="1000"/>
              </a:spcAft>
              <a:buSzPct val="100000"/>
              <a:buChar char="•"/>
              <a:lnSpc>
                <a:spcPts val="2200"/>
              </a:lnSpc>
            </a:pPr>
            <a:r>
              <a:rPr sz="2000" b="0">
                <a:solidFill>
                  <a:srgbClr val="333333"/>
                </a:solidFill>
                <a:latin typeface="Calibri"/>
              </a:rPr>
              <a:t>Push the submodule commit to its remote first if needed, then push the parent</a:t>
            </a:r>
          </a:p>
          <a:p>
            <a:pPr lvl="0" marL="457200" indent="-228600">
              <a:buFont typeface="Calibri"/>
              <a:spcAft>
                <a:spcPts val="1000"/>
              </a:spcAft>
              <a:buSzPct val="100000"/>
              <a:buChar char="•"/>
              <a:lnSpc>
                <a:spcPts val="2200"/>
              </a:lnSpc>
            </a:pPr>
            <a:r>
              <a:rPr sz="2000" b="0">
                <a:solidFill>
                  <a:srgbClr val="333333"/>
                </a:solidFill>
                <a:latin typeface="Calibri"/>
              </a:rPr>
              <a:t>Two repos, two push steps, easy to forget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submodule pitfalls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Submodule pitfalls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submodule pitfalls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6753812"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init, detached HEAD, bump pin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submodule pitfalls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(setup) parent repo pins vendor/dv-lib at lib v1</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clone &lt;parent&gt; fresh-clone — clone without submodules populated</a:t>
            </a:r>
          </a:p>
          <a:p>
            <a:pPr>
              <a:lnSpc>
                <a:spcPts val="2200"/>
              </a:lnSpc>
              <a:spcAft>
                <a:spcPts val="600"/>
              </a:spcAft>
            </a:pPr>
            <a:r>
              <a:rPr sz="2000" b="0">
                <a:solidFill>
                  <a:srgbClr val="333333"/>
                </a:solidFill>
                <a:latin typeface="Consolas"/>
              </a:rPr>
              <a:t>git clone file://…/parent fresh-clone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vendor/dv-lib — empty until init</a:t>
            </a:r>
          </a:p>
          <a:p>
            <a:pPr>
              <a:lnSpc>
                <a:spcPts val="2200"/>
              </a:lnSpc>
              <a:spcAft>
                <a:spcPts val="600"/>
              </a:spcAft>
            </a:pPr>
            <a:r>
              <a:rPr sz="2000" b="0">
                <a:solidFill>
                  <a:srgbClr val="333333"/>
                </a:solidFill>
                <a:latin typeface="Consolas"/>
              </a:rPr>
              <a:t>ls vendor/dv-lib</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submodule status — minus prefix means not initialized</a:t>
            </a:r>
          </a:p>
          <a:p>
            <a:pPr>
              <a:lnSpc>
                <a:spcPts val="2200"/>
              </a:lnSpc>
              <a:spcAft>
                <a:spcPts val="600"/>
              </a:spcAft>
            </a:pPr>
            <a:r>
              <a:rPr sz="2000" b="0">
                <a:solidFill>
                  <a:srgbClr val="333333"/>
                </a:solidFill>
                <a:latin typeface="Consolas"/>
              </a:rPr>
              <a:t>git submodule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submodule update --init --recursive — populate submodule checkout</a:t>
            </a:r>
          </a:p>
          <a:p>
            <a:pPr>
              <a:lnSpc>
                <a:spcPts val="2200"/>
              </a:lnSpc>
              <a:spcAft>
                <a:spcPts val="600"/>
              </a:spcAft>
            </a:pPr>
            <a:r>
              <a:rPr sz="2000" b="0">
                <a:solidFill>
                  <a:srgbClr val="333333"/>
                </a:solidFill>
                <a:latin typeface="Consolas"/>
              </a:rPr>
              <a:t>git submodule update --init --recursive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cat vendor/dv-lib/VERSION — library files appear</a:t>
            </a:r>
          </a:p>
          <a:p>
            <a:pPr>
              <a:lnSpc>
                <a:spcPts val="2200"/>
              </a:lnSpc>
              <a:spcAft>
                <a:spcPts val="600"/>
              </a:spcAft>
            </a:pPr>
            <a:r>
              <a:rPr sz="2000" b="0">
                <a:solidFill>
                  <a:srgbClr val="333333"/>
                </a:solidFill>
                <a:latin typeface="Consolas"/>
              </a:rPr>
              <a:t>cat vendor/dv-lib/VERSION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cd vendor/dv-lib — enter the submodule</a:t>
            </a:r>
          </a:p>
          <a:p>
            <a:pPr>
              <a:lnSpc>
                <a:spcPts val="2200"/>
              </a:lnSpc>
              <a:spcAft>
                <a:spcPts val="600"/>
              </a:spcAft>
            </a:pPr>
            <a:r>
              <a:rPr sz="2000" b="0">
                <a:solidFill>
                  <a:srgbClr val="333333"/>
                </a:solidFill>
                <a:latin typeface="Consolas"/>
              </a:rPr>
              <a:t>cd vendor/dv-lib</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detached HEAD at the pinned commit</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submodule pitfalls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 empty vendor or external folder after clone almost always means forgotten init</a:t>
            </a:r>
          </a:p>
          <a:p>
            <a:pPr lvl="0" marL="457200" indent="-228600">
              <a:buFont typeface="Calibri"/>
              <a:spcAft>
                <a:spcPts val="1000"/>
              </a:spcAft>
              <a:buSzPct val="100000"/>
              <a:buChar char="•"/>
              <a:lnSpc>
                <a:spcPts val="2200"/>
              </a:lnSpc>
            </a:pPr>
            <a:r>
              <a:rPr sz="2000" b="0">
                <a:solidFill>
                  <a:srgbClr val="333333"/>
                </a:solidFill>
                <a:latin typeface="Calibri"/>
              </a:rPr>
              <a:t>Do not commit only inside the submodule and stop; the parent must record the new SHA</a:t>
            </a:r>
          </a:p>
          <a:p>
            <a:pPr lvl="0" marL="457200" indent="-228600">
              <a:buFont typeface="Calibri"/>
              <a:spcAft>
                <a:spcPts val="1000"/>
              </a:spcAft>
              <a:buSzPct val="100000"/>
              <a:buChar char="•"/>
              <a:lnSpc>
                <a:spcPts val="2200"/>
              </a:lnSpc>
            </a:pPr>
            <a:r>
              <a:rPr sz="2000" b="0">
                <a:solidFill>
                  <a:srgbClr val="333333"/>
                </a:solidFill>
                <a:latin typeface="Calibri"/>
              </a:rPr>
              <a:t>Detached HEAD inside a submodule is expected until you deliberately switch a branch for</a:t>
            </a:r>
          </a:p>
          <a:p>
            <a:pPr lvl="0" marL="457200" indent="-228600">
              <a:buFont typeface="Calibri"/>
              <a:spcAft>
                <a:spcPts val="1000"/>
              </a:spcAft>
              <a:buSzPct val="100000"/>
              <a:buChar char="•"/>
              <a:lnSpc>
                <a:spcPts val="2200"/>
              </a:lnSpc>
            </a:pPr>
            <a:r>
              <a:rPr sz="2000" b="0">
                <a:solidFill>
                  <a:srgbClr val="333333"/>
                </a:solidFill>
                <a:latin typeface="Calibri"/>
              </a:rPr>
              <a:t>CI should clone with recurse submodules or run init in the build script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submodule pitfalls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fix init, detached HEAD, and pin-update scenarios</a:t>
            </a:r>
          </a:p>
          <a:p>
            <a:pPr lvl="0" marL="457200" indent="-228600">
              <a:buFont typeface="Calibri"/>
              <a:spcAft>
                <a:spcPts val="1000"/>
              </a:spcAft>
              <a:buSzPct val="100000"/>
              <a:buChar char="•"/>
              <a:lnSpc>
                <a:spcPts val="2200"/>
              </a:lnSpc>
            </a:pPr>
            <a:r>
              <a:rPr sz="2000" b="0">
                <a:solidFill>
                  <a:srgbClr val="333333"/>
                </a:solidFill>
                <a:latin typeface="Calibri"/>
              </a:rPr>
              <a:t>On real Git, clone, init, inspect status inside the submodule, and bump the parent pin</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submodule pitfalls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