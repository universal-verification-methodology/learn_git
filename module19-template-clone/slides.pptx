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labs often start from a template repository—not a blank folder. GitHub’s use this template gives you a writable copy with the right layout already in place. Your first job after clone is orientation: where is the RTL, where are testbenches and scripts, and is the working tree clean? This module bootstraps that habit before you touch real coursework repos.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Clone the template URL into a project folder, change into it, and list the top level. Expect directories like rtl, tb, scripts, and docs—plus a Makefile or README that explains how to build and test. Run status right away: you should be on main with a clean tree and origin pointing at your remote. Read gitignore and env example files so you know what not to commit. Map the layout before you write new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example—your home directory is empty until you create a copy from the chip template. Look at the lab terminal, the layout tree, and the challenge panel above. Clone or use template, change into the project folder, inspect rtl and tb, then run status and remote. Use Check when you match a challenge.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simulate a course template with rtl, tb, scripts, and docs. Clone it into a new project directory, list the layout, and confirm a clean status on main. Show the remote URL and branch so you know where push will go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Clone into a fresh folder name—you do not want to nest a repo inside another by accident. If status is not clean immediately after clone, find out why before you start editing. Do not commit env files with secrets—copy from env example instead. And remember: the browser lab is for literacy—real assignments still need your GitHub template or sandbox clone with submodules if applicable.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bootstrap chip-lab, and run your first status. On real Git, clone a template tree and map rtl, tb, and scripts. When you are ready, take the short quiz, then continue to the next module on submission reproducibility.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Template-repo bootstrap</a:t>
            </a:r>
          </a:p>
          <a:p>
            <a:pPr algn="ctr">
              <a:lnSpc>
                <a:spcPts val="2200"/>
              </a:lnSpc>
              <a:spcBef>
                <a:spcPts val="1400"/>
              </a:spcBef>
            </a:pPr>
            <a:r>
              <a:rPr sz="2600" b="0">
                <a:solidFill>
                  <a:srgbClr val="333333"/>
                </a:solidFill>
                <a:latin typeface="Calibri"/>
              </a:rPr>
              <a:t>Course labs often start from a template repository, not a blank folder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Clone, map, status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Clone the template URL into a project folder, change into it, and list the top level</a:t>
            </a:r>
          </a:p>
          <a:p>
            <a:pPr lvl="0" marL="457200" indent="-228600">
              <a:buFont typeface="Calibri"/>
              <a:spcAft>
                <a:spcPts val="1000"/>
              </a:spcAft>
              <a:buSzPct val="100000"/>
              <a:buChar char="•"/>
              <a:lnSpc>
                <a:spcPts val="2200"/>
              </a:lnSpc>
            </a:pPr>
            <a:r>
              <a:rPr sz="2000" b="0">
                <a:solidFill>
                  <a:srgbClr val="333333"/>
                </a:solidFill>
                <a:latin typeface="Calibri"/>
              </a:rPr>
              <a:t>Expect directories like rtl, tb, scripts</a:t>
            </a:r>
          </a:p>
          <a:p>
            <a:pPr lvl="0" marL="457200" indent="-228600">
              <a:buFont typeface="Calibri"/>
              <a:spcAft>
                <a:spcPts val="1000"/>
              </a:spcAft>
              <a:buSzPct val="100000"/>
              <a:buChar char="•"/>
              <a:lnSpc>
                <a:spcPts val="2200"/>
              </a:lnSpc>
            </a:pPr>
            <a:r>
              <a:rPr sz="2000" b="0">
                <a:solidFill>
                  <a:srgbClr val="333333"/>
                </a:solidFill>
                <a:latin typeface="Calibri"/>
              </a:rPr>
              <a:t>Run status right away</a:t>
            </a:r>
          </a:p>
          <a:p>
            <a:pPr lvl="0" marL="457200" indent="-228600">
              <a:buFont typeface="Calibri"/>
              <a:spcAft>
                <a:spcPts val="1000"/>
              </a:spcAft>
              <a:buSzPct val="100000"/>
              <a:buChar char="•"/>
              <a:lnSpc>
                <a:spcPts val="2200"/>
              </a:lnSpc>
            </a:pPr>
            <a:r>
              <a:rPr sz="2000" b="0">
                <a:solidFill>
                  <a:srgbClr val="333333"/>
                </a:solidFill>
                <a:latin typeface="Calibri"/>
              </a:rPr>
              <a:t>Read gitignore and env example files so you know what not to commit</a:t>
            </a:r>
          </a:p>
          <a:p>
            <a:pPr lvl="0" marL="457200" indent="-228600">
              <a:buFont typeface="Calibri"/>
              <a:spcAft>
                <a:spcPts val="1000"/>
              </a:spcAft>
              <a:buSzPct val="100000"/>
              <a:buChar char="•"/>
              <a:lnSpc>
                <a:spcPts val="2200"/>
              </a:lnSpc>
            </a:pPr>
            <a:r>
              <a:rPr sz="2000" b="0">
                <a:solidFill>
                  <a:srgbClr val="333333"/>
                </a:solidFill>
                <a:latin typeface="Calibri"/>
              </a:rPr>
              <a:t>Map the layout before you write new 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Template clone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26616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clone template and inspect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(setup) chip-template repo with rtl/, tb/, scripts/, docs/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clone &lt;template-url&gt; chip-lab — copy template into your workspace</a:t>
            </a:r>
          </a:p>
          <a:p>
            <a:pPr>
              <a:lnSpc>
                <a:spcPts val="2200"/>
              </a:lnSpc>
              <a:spcAft>
                <a:spcPts val="600"/>
              </a:spcAft>
            </a:pPr>
            <a:r>
              <a:rPr sz="2000" b="0">
                <a:solidFill>
                  <a:srgbClr val="333333"/>
                </a:solidFill>
                <a:latin typeface="Consolas"/>
              </a:rPr>
              <a:t>git clone ../chip-template chip-lab</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chip-lab — work inside the new project</a:t>
            </a:r>
          </a:p>
          <a:p>
            <a:pPr>
              <a:lnSpc>
                <a:spcPts val="2200"/>
              </a:lnSpc>
              <a:spcAft>
                <a:spcPts val="600"/>
              </a:spcAft>
            </a:pPr>
            <a:r>
              <a:rPr sz="2000" b="0">
                <a:solidFill>
                  <a:srgbClr val="333333"/>
                </a:solidFill>
                <a:latin typeface="Consolas"/>
              </a:rPr>
              <a:t>cd chip-lab</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see top-level files and folders</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rtl tb scripts docs — map source, tests, and tooling</a:t>
            </a:r>
          </a:p>
          <a:p>
            <a:pPr>
              <a:lnSpc>
                <a:spcPts val="2200"/>
              </a:lnSpc>
              <a:spcAft>
                <a:spcPts val="600"/>
              </a:spcAft>
            </a:pPr>
            <a:r>
              <a:rPr sz="2000" b="0">
                <a:solidFill>
                  <a:srgbClr val="333333"/>
                </a:solidFill>
                <a:latin typeface="Consolas"/>
              </a:rPr>
              <a:t>ls rtl tb scripts docs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README.md — read quick-start notes</a:t>
            </a:r>
          </a:p>
          <a:p>
            <a:pPr>
              <a:lnSpc>
                <a:spcPts val="2200"/>
              </a:lnSpc>
              <a:spcAft>
                <a:spcPts val="600"/>
              </a:spcAft>
            </a:pPr>
            <a:r>
              <a:rPr sz="2000" b="0">
                <a:solidFill>
                  <a:srgbClr val="333333"/>
                </a:solidFill>
                <a:latin typeface="Consolas"/>
              </a:rPr>
              <a:t>cat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confirm clean tree on main</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remote -v — see where origin points</a:t>
            </a:r>
          </a:p>
          <a:p>
            <a:pPr>
              <a:lnSpc>
                <a:spcPts val="2200"/>
              </a:lnSpc>
              <a:spcAft>
                <a:spcPts val="600"/>
              </a:spcAft>
            </a:pPr>
            <a:r>
              <a:rPr sz="2000" b="0">
                <a:solidFill>
                  <a:srgbClr val="333333"/>
                </a:solidFill>
                <a:latin typeface="Consolas"/>
              </a:rPr>
              <a:t>git remote -v</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Clone into a fresh folder name, you do not want to nest a repo inside another by accident</a:t>
            </a:r>
          </a:p>
          <a:p>
            <a:pPr lvl="0" marL="457200" indent="-228600">
              <a:buFont typeface="Calibri"/>
              <a:spcAft>
                <a:spcPts val="1000"/>
              </a:spcAft>
              <a:buSzPct val="100000"/>
              <a:buChar char="•"/>
              <a:lnSpc>
                <a:spcPts val="2200"/>
              </a:lnSpc>
            </a:pPr>
            <a:r>
              <a:rPr sz="2000" b="0">
                <a:solidFill>
                  <a:srgbClr val="333333"/>
                </a:solidFill>
                <a:latin typeface="Calibri"/>
              </a:rPr>
              <a:t>If status is not clean immediately after clone, find out why before you start editing</a:t>
            </a:r>
          </a:p>
          <a:p>
            <a:pPr lvl="0" marL="457200" indent="-228600">
              <a:buFont typeface="Calibri"/>
              <a:spcAft>
                <a:spcPts val="1000"/>
              </a:spcAft>
              <a:buSzPct val="100000"/>
              <a:buChar char="•"/>
              <a:lnSpc>
                <a:spcPts val="2200"/>
              </a:lnSpc>
            </a:pPr>
            <a:r>
              <a:rPr sz="2000" b="0">
                <a:solidFill>
                  <a:srgbClr val="333333"/>
                </a:solidFill>
                <a:latin typeface="Calibri"/>
              </a:rPr>
              <a:t>Do not commit env files with secrets, copy from env example instead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bootstrap chip-lab, and run your first status</a:t>
            </a:r>
          </a:p>
          <a:p>
            <a:pPr lvl="0" marL="457200" indent="-228600">
              <a:buFont typeface="Calibri"/>
              <a:spcAft>
                <a:spcPts val="1000"/>
              </a:spcAft>
              <a:buSzPct val="100000"/>
              <a:buChar char="•"/>
              <a:lnSpc>
                <a:spcPts val="2200"/>
              </a:lnSpc>
            </a:pPr>
            <a:r>
              <a:rPr sz="2000" b="0">
                <a:solidFill>
                  <a:srgbClr val="333333"/>
                </a:solidFill>
                <a:latin typeface="Calibri"/>
              </a:rPr>
              <a:t>On real Git, clone a template tree and map rtl, tb, and scripts</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template clone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