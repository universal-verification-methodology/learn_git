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laptop keeps local branches like main. Git also keeps remote-tracking refs such as origin slash main—the last tip you saw on the server after fetch or push. Status compares your local branch to that tracking ref so you know if you are ahead, behind, or diverged. This module is about reading those refs and using fetch and pull without surprises.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Fetch downloads new commits and updates origin slash star refs only—it does not move your local branch or working tree. Pull is fetch plus integrate into your current branch, usually a merge. Set upstream with push minus u or branch minus u so status and push know which remote branch you mean. List remote-tracking branches with branch minus r, see upstream links with branch minus v v, and prune stale origin refs after branches are deleted on the host.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first so local main, origin slash main, and the server all start in sync. Look at three lanes—the local branch, the remote-tracking ref, and the real remote—and the challenge panel above. Try fetch when the server moves ahead, commit locally to go ahead, then pull or push to resync. Use Check on challenges when you think you have the right state.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use a bare repository as origin. Push main, then simulate a teammate push from a second clone so your practice repo is behind. Fetch to refresh origin slash main without merging. List remote branches, make a local commit, and show branch minus v v with upstream info. Push a short-lived branch, delete it on the remote, fetch, and prune so the stale remote-tracking ref disappears.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Fetch is safe—it does not change your files—but it can make status show you are behind until you pull or rebase. Do not confuse origin slash main with your local main; they diverge whenever only one side moves. Prune only removes stale remote-tracking refs, not your local branches. And remember: the browser lab is for literacy—real team repos still need disciplined fetch, pull, and push habits.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clear a few ahead-or-behind challenges. On real Git, run fetch, read branch minus v v, and prune a deleted remote branch. When you are ready, take the short quiz, then continue to the next module on pull request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Remote-tracking branches</a:t>
            </a:r>
          </a:p>
          <a:p>
            <a:pPr algn="ctr">
              <a:lnSpc>
                <a:spcPts val="2200"/>
              </a:lnSpc>
              <a:spcBef>
                <a:spcPts val="1400"/>
              </a:spcBef>
            </a:pPr>
            <a:r>
              <a:rPr sz="2600" b="0">
                <a:solidFill>
                  <a:srgbClr val="333333"/>
                </a:solidFill>
                <a:latin typeface="Calibri"/>
              </a:rPr>
              <a:t>Your laptop keeps local branches like main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remote tracking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Fetch, track, compare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Fetch downloads new commits and updates origin slash star refs only</a:t>
            </a:r>
          </a:p>
          <a:p>
            <a:pPr lvl="0" marL="457200" indent="-228600">
              <a:buFont typeface="Calibri"/>
              <a:spcAft>
                <a:spcPts val="1000"/>
              </a:spcAft>
              <a:buSzPct val="100000"/>
              <a:buChar char="•"/>
              <a:lnSpc>
                <a:spcPts val="2200"/>
              </a:lnSpc>
            </a:pPr>
            <a:r>
              <a:rPr sz="2000" b="0">
                <a:solidFill>
                  <a:srgbClr val="333333"/>
                </a:solidFill>
                <a:latin typeface="Calibri"/>
              </a:rPr>
              <a:t>Pull is fetch plus integrate into your current branch, usually a merge</a:t>
            </a:r>
          </a:p>
          <a:p>
            <a:pPr lvl="0" marL="457200" indent="-228600">
              <a:buFont typeface="Calibri"/>
              <a:spcAft>
                <a:spcPts val="1000"/>
              </a:spcAft>
              <a:buSzPct val="100000"/>
              <a:buChar char="•"/>
              <a:lnSpc>
                <a:spcPts val="2200"/>
              </a:lnSpc>
            </a:pPr>
            <a:r>
              <a:rPr sz="2000" b="0">
                <a:solidFill>
                  <a:srgbClr val="333333"/>
                </a:solidFill>
                <a:latin typeface="Calibri"/>
              </a:rPr>
              <a:t>Set upstream with push minus u or branch minus u so status and push know which remote</a:t>
            </a:r>
          </a:p>
          <a:p>
            <a:pPr lvl="0" marL="457200" indent="-228600">
              <a:buFont typeface="Calibri"/>
              <a:spcAft>
                <a:spcPts val="1000"/>
              </a:spcAft>
              <a:buSzPct val="100000"/>
              <a:buChar char="•"/>
              <a:lnSpc>
                <a:spcPts val="2200"/>
              </a:lnSpc>
            </a:pPr>
            <a:r>
              <a:rPr sz="2000" b="0">
                <a:solidFill>
                  <a:srgbClr val="333333"/>
                </a:solidFill>
                <a:latin typeface="Calibri"/>
              </a:rPr>
              <a:t>Prune stale origin refs after branches are deleted on the host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remote tracking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Remote-tracking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remote tracking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3779702"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fetch, branch refs, prune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remote tracking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README.md — first commit on main</a:t>
            </a:r>
          </a:p>
          <a:p>
            <a:pPr>
              <a:lnSpc>
                <a:spcPts val="2200"/>
              </a:lnSpc>
              <a:spcAft>
                <a:spcPts val="600"/>
              </a:spcAft>
            </a:pPr>
            <a:r>
              <a:rPr sz="2000" b="0">
                <a:solidFill>
                  <a:srgbClr val="333333"/>
                </a:solidFill>
                <a:latin typeface="Consolas"/>
              </a:rPr>
              <a:t>echo "v1" &gt; README.md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README.md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branch -M main — name the default branch main</a:t>
            </a:r>
          </a:p>
          <a:p>
            <a:pPr>
              <a:lnSpc>
                <a:spcPts val="2200"/>
              </a:lnSpc>
              <a:spcAft>
                <a:spcPts val="600"/>
              </a:spcAft>
            </a:pPr>
            <a:r>
              <a:rPr sz="2000" b="0">
                <a:solidFill>
                  <a:srgbClr val="333333"/>
                </a:solidFill>
                <a:latin typeface="Consolas"/>
              </a:rPr>
              <a:t>git branch -M main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init --bare ../origin.git — bare remote (simulates GitHub)</a:t>
            </a:r>
          </a:p>
          <a:p>
            <a:pPr>
              <a:lnSpc>
                <a:spcPts val="2200"/>
              </a:lnSpc>
              <a:spcAft>
                <a:spcPts val="600"/>
              </a:spcAft>
            </a:pPr>
            <a:r>
              <a:rPr sz="2000" b="0">
                <a:solidFill>
                  <a:srgbClr val="333333"/>
                </a:solidFill>
                <a:latin typeface="Consolas"/>
              </a:rPr>
              <a:t>git init --bare ../origin.git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remote add origin … — link the hosted copy</a:t>
            </a:r>
          </a:p>
          <a:p>
            <a:pPr>
              <a:lnSpc>
                <a:spcPts val="2200"/>
              </a:lnSpc>
              <a:spcAft>
                <a:spcPts val="600"/>
              </a:spcAft>
            </a:pPr>
            <a:r>
              <a:rPr sz="2000" b="0">
                <a:solidFill>
                  <a:srgbClr val="333333"/>
                </a:solidFill>
                <a:latin typeface="Consolas"/>
              </a:rPr>
              <a:t>git remote add origin ../origin.git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push -u origin main — publish and set upstream tracking</a:t>
            </a:r>
          </a:p>
          <a:p>
            <a:pPr>
              <a:lnSpc>
                <a:spcPts val="2200"/>
              </a:lnSpc>
              <a:spcAft>
                <a:spcPts val="600"/>
              </a:spcAft>
            </a:pPr>
            <a:r>
              <a:rPr sz="2000" b="0">
                <a:solidFill>
                  <a:srgbClr val="333333"/>
                </a:solidFill>
                <a:latin typeface="Consolas"/>
              </a:rPr>
              <a:t>git push -u origin main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remote tracking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Fetch is safe</a:t>
            </a:r>
          </a:p>
          <a:p>
            <a:pPr lvl="0" marL="457200" indent="-228600">
              <a:buFont typeface="Calibri"/>
              <a:spcAft>
                <a:spcPts val="1000"/>
              </a:spcAft>
              <a:buSzPct val="100000"/>
              <a:buChar char="•"/>
              <a:lnSpc>
                <a:spcPts val="2200"/>
              </a:lnSpc>
            </a:pPr>
            <a:r>
              <a:rPr sz="2000" b="0">
                <a:solidFill>
                  <a:srgbClr val="333333"/>
                </a:solidFill>
                <a:latin typeface="Calibri"/>
              </a:rPr>
              <a:t>Do not confuse origin slash main with your local main</a:t>
            </a:r>
          </a:p>
          <a:p>
            <a:pPr lvl="0" marL="457200" indent="-228600">
              <a:buFont typeface="Calibri"/>
              <a:spcAft>
                <a:spcPts val="1000"/>
              </a:spcAft>
              <a:buSzPct val="100000"/>
              <a:buChar char="•"/>
              <a:lnSpc>
                <a:spcPts val="2200"/>
              </a:lnSpc>
            </a:pPr>
            <a:r>
              <a:rPr sz="2000" b="0">
                <a:solidFill>
                  <a:srgbClr val="333333"/>
                </a:solidFill>
                <a:latin typeface="Calibri"/>
              </a:rPr>
              <a:t>Prune only removes stale remote-tracking refs, not your local branches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remote tracking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clear a few ahead-or-behind challenges</a:t>
            </a:r>
          </a:p>
          <a:p>
            <a:pPr lvl="0" marL="457200" indent="-228600">
              <a:buFont typeface="Calibri"/>
              <a:spcAft>
                <a:spcPts val="1000"/>
              </a:spcAft>
              <a:buSzPct val="100000"/>
              <a:buChar char="•"/>
              <a:lnSpc>
                <a:spcPts val="2200"/>
              </a:lnSpc>
            </a:pPr>
            <a:r>
              <a:rPr sz="2000" b="0">
                <a:solidFill>
                  <a:srgbClr val="333333"/>
                </a:solidFill>
                <a:latin typeface="Calibri"/>
              </a:rPr>
              <a:t>On real Git, run fetch, read branch minus v v, and prune a deleted remote branch</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remote tracking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