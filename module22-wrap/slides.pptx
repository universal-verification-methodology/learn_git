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have walked the Git path for coursework—from the mental model of working tree, index, and commits, through branches, merges, and recovery, to remotes, pull requests, submodules, and a live sandbox rehearsal. This short wrap names what you can do now and points you to the next courses on the ladder.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can explain how files move from working tree to index to commit graph. You can stage, commit, read history, and undo safely. You can branch, merge or rebase, and recover with reflog when something goes wrong. You can use remotes and pull-request basics, handle submodule pitfalls when shared IP appears, bootstrap from a template, and rehearse a reproducible submission. That is the Git literacy every later design course expects.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mainly used browser labs, spend a short real-Git session on commits, conflicts, remotes, and the sandbox so push and pull feel natural—not only the concept quizzes. If you mainly used a real terminal, skim any skipped browser labs for the visual challenges on the graph, conflicts, and remote-tracking. Either track works for self-study; both together stick best before you move 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tools index again—the same shelf of concept labs you opened along the way. You do not need to re-clear every challenge. Use it as a map: if a skill still feels shaky, jump back to that lab, then return here when you are ready for digital design or Verilog.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Digital design and Verilog courses assume you can commit cleanly, read a log, and work from a template repo without panic. Unix fluency from learn Unix still helps for Make, scripts, and log triage. When your wrap checklist feels honest, continue to learn digital or learn Verilog on the syllabus ladder—or keep practicing weak modules and the unix-git-practice sandbox until remotes feel routine.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 the wrap checklist in the module README. Confirm you can run status and log without guessing, and that you have touched the live sandbox at least once. When you are ready, take the short quiz, then open the next course that matches your path.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Git path complete</a:t>
            </a:r>
          </a:p>
          <a:p>
            <a:pPr algn="ctr">
              <a:lnSpc>
                <a:spcPts val="2200"/>
              </a:lnSpc>
              <a:spcBef>
                <a:spcPts val="1400"/>
              </a:spcBef>
            </a:pPr>
            <a:r>
              <a:rPr sz="2600" b="0">
                <a:solidFill>
                  <a:srgbClr val="333333"/>
                </a:solidFill>
                <a:latin typeface="Calibri"/>
              </a:rPr>
              <a:t>You have walked the Git path for coursework, from the mental model of working tree, index</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wrap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What you can do now</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You can explain how files move from working tree to index to commit graph</a:t>
            </a:r>
          </a:p>
          <a:p>
            <a:pPr lvl="0" marL="457200" indent="-228600">
              <a:buFont typeface="Calibri"/>
              <a:spcAft>
                <a:spcPts val="1000"/>
              </a:spcAft>
              <a:buSzPct val="100000"/>
              <a:buChar char="•"/>
              <a:lnSpc>
                <a:spcPts val="2200"/>
              </a:lnSpc>
            </a:pPr>
            <a:r>
              <a:rPr sz="2000" b="0">
                <a:solidFill>
                  <a:srgbClr val="333333"/>
                </a:solidFill>
                <a:latin typeface="Calibri"/>
              </a:rPr>
              <a:t>You can stage, commit, read history, and undo safely</a:t>
            </a:r>
          </a:p>
          <a:p>
            <a:pPr lvl="0" marL="457200" indent="-228600">
              <a:buFont typeface="Calibri"/>
              <a:spcAft>
                <a:spcPts val="1000"/>
              </a:spcAft>
              <a:buSzPct val="100000"/>
              <a:buChar char="•"/>
              <a:lnSpc>
                <a:spcPts val="2200"/>
              </a:lnSpc>
            </a:pPr>
            <a:r>
              <a:rPr sz="2000" b="0">
                <a:solidFill>
                  <a:srgbClr val="333333"/>
                </a:solidFill>
                <a:latin typeface="Calibri"/>
              </a:rPr>
              <a:t>You can branch, merge or rebase, and recover with reflog when something goes wrong</a:t>
            </a:r>
          </a:p>
          <a:p>
            <a:pPr lvl="0" marL="457200" indent="-228600">
              <a:buFont typeface="Calibri"/>
              <a:spcAft>
                <a:spcPts val="1000"/>
              </a:spcAft>
              <a:buSzPct val="100000"/>
              <a:buChar char="•"/>
              <a:lnSpc>
                <a:spcPts val="2200"/>
              </a:lnSpc>
            </a:pPr>
            <a:r>
              <a:rPr sz="2000" b="0">
                <a:solidFill>
                  <a:srgbClr val="333333"/>
                </a:solidFill>
                <a:latin typeface="Calibri"/>
              </a:rPr>
              <a:t>Rehearse a reproducible submission</a:t>
            </a:r>
          </a:p>
          <a:p>
            <a:pPr lvl="0" marL="457200" indent="-228600">
              <a:buFont typeface="Calibri"/>
              <a:spcAft>
                <a:spcPts val="1000"/>
              </a:spcAft>
              <a:buSzPct val="100000"/>
              <a:buChar char="•"/>
              <a:lnSpc>
                <a:spcPts val="2200"/>
              </a:lnSpc>
            </a:pPr>
            <a:r>
              <a:rPr sz="2000" b="0">
                <a:solidFill>
                  <a:srgbClr val="333333"/>
                </a:solidFill>
                <a:latin typeface="Calibri"/>
              </a:rPr>
              <a:t>That is the Git literacy every later design course expects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wrap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Close the track gaps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The sandbox so push and pull feel natural, not only the concept quizzes</a:t>
            </a:r>
          </a:p>
          <a:p>
            <a:pPr lvl="0" marL="457200" indent="-228600">
              <a:buFont typeface="Calibri"/>
              <a:spcAft>
                <a:spcPts val="1000"/>
              </a:spcAft>
              <a:buSzPct val="100000"/>
              <a:buChar char="•"/>
              <a:lnSpc>
                <a:spcPts val="2200"/>
              </a:lnSpc>
            </a:pPr>
            <a:r>
              <a:rPr sz="2000" b="0">
                <a:solidFill>
                  <a:srgbClr val="333333"/>
                </a:solidFill>
                <a:latin typeface="Calibri"/>
              </a:rPr>
              <a:t>Remote-tracking</a:t>
            </a:r>
          </a:p>
          <a:p>
            <a:pPr lvl="0" marL="457200" indent="-228600">
              <a:buFont typeface="Calibri"/>
              <a:spcAft>
                <a:spcPts val="1000"/>
              </a:spcAft>
              <a:buSzPct val="100000"/>
              <a:buChar char="•"/>
              <a:lnSpc>
                <a:spcPts val="2200"/>
              </a:lnSpc>
            </a:pPr>
            <a:r>
              <a:rPr sz="2000" b="0">
                <a:solidFill>
                  <a:srgbClr val="333333"/>
                </a:solidFill>
                <a:latin typeface="Calibri"/>
              </a:rPr>
              <a:t>Either track works for self-study; both together stick best before you move 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wrap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The tools you practiced</a:t>
            </a:r>
          </a:p>
        </p:txBody>
      </p:sp>
      <p:sp>
        <p:nvSpPr>
          <p:cNvPr id="3" name="TextBox 2"/>
          <p:cNvSpPr txBox="1"/>
          <p:nvPr/>
        </p:nvSpPr>
        <p:spPr>
          <a:xfrm>
            <a:off x="548640" y="1234440"/>
            <a:ext cx="5303520" cy="475488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Here is the tools index again, the same shelf of concept labs you opened along the way</a:t>
            </a:r>
          </a:p>
          <a:p>
            <a:pPr lvl="0" marL="457200" indent="-228600">
              <a:buFont typeface="Calibri"/>
              <a:spcAft>
                <a:spcPts val="1000"/>
              </a:spcAft>
              <a:buSzPct val="100000"/>
              <a:buChar char="•"/>
              <a:lnSpc>
                <a:spcPts val="2200"/>
              </a:lnSpc>
            </a:pPr>
            <a:r>
              <a:rPr sz="2000" b="0">
                <a:solidFill>
                  <a:srgbClr val="333333"/>
                </a:solidFill>
                <a:latin typeface="Calibri"/>
              </a:rPr>
              <a:t>You do not need to re-clear every challenge</a:t>
            </a:r>
          </a:p>
          <a:p>
            <a:pPr lvl="0" marL="457200" indent="-228600">
              <a:buFont typeface="Calibri"/>
              <a:spcAft>
                <a:spcPts val="1000"/>
              </a:spcAft>
              <a:buSzPct val="100000"/>
              <a:buChar char="•"/>
              <a:lnSpc>
                <a:spcPts val="2200"/>
              </a:lnSpc>
            </a:pPr>
            <a:r>
              <a:rPr sz="2000" b="0">
                <a:solidFill>
                  <a:srgbClr val="333333"/>
                </a:solidFill>
                <a:latin typeface="Calibri"/>
              </a:rPr>
              <a:t>Use it as a map</a:t>
            </a:r>
          </a:p>
        </p:txBody>
      </p:sp>
      <p:pic>
        <p:nvPicPr>
          <p:cNvPr id="4" name="Picture 3" descr="tools-index.png"/>
          <p:cNvPicPr>
            <a:picLocks noChangeAspect="1"/>
          </p:cNvPicPr>
          <p:nvPr/>
        </p:nvPicPr>
        <p:blipFill>
          <a:blip r:embed="rId2"/>
          <a:stretch>
            <a:fillRect/>
          </a:stretch>
        </p:blipFill>
        <p:spPr>
          <a:xfrm>
            <a:off x="6172200" y="1715214"/>
            <a:ext cx="5394960" cy="3793331"/>
          </a:xfrm>
          <a:prstGeom prst="rect">
            <a:avLst/>
          </a:prstGeom>
        </p:spPr>
      </p:pic>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wrap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Digital design and Verilog courses assume you can commit cleanly, read a log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wrap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Review the wrap checklist in the module README</a:t>
            </a:r>
          </a:p>
          <a:p>
            <a:pPr lvl="0" marL="457200" indent="-228600">
              <a:buFont typeface="Calibri"/>
              <a:spcAft>
                <a:spcPts val="1000"/>
              </a:spcAft>
              <a:buSzPct val="100000"/>
              <a:buChar char="•"/>
              <a:lnSpc>
                <a:spcPts val="2200"/>
              </a:lnSpc>
            </a:pPr>
            <a:r>
              <a:rPr sz="2000" b="0">
                <a:solidFill>
                  <a:srgbClr val="333333"/>
                </a:solidFill>
                <a:latin typeface="Calibri"/>
              </a:rPr>
              <a:t>Confirm you can run status and log without guessing</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open the next course that matches your path</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wrap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