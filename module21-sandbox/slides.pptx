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labs taught the ideas—now you rehearse on a real GitHub template. The unix-git-practice sandbox is a small chip-lab layout with Make stubs, scripts, and a shared-ip submodule. You create your own writable copy, clone with submodules, run tests, and optionally open a practice pull request on your fork. This module is Track A only: no browser lab, just the live toolchain.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 Git course tree is for reading modules and local examples—do not push student work there. The org template is your practice surface: Use this template on GitHub, then clone your copy with recurse submodules. That gives you src, tb, scripts, and external shared-ip without polluting shared course history. Read the sandbox note once so you know which URL is which.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end-to-end rhythm. On GitHub, generate your repo from the unix-git-practice template. Clone with recurse submodules so shared-ip is populated. Change into the project and run make test to exercise the stub build and demo script. Run the check-ready script before you push. Create a lab branch, commit a small change, push to your fork, and open a practice pull request into main. Explore-only is fine too—clone the org template read-only if you are not ready to push.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clone the practice template into a fresh folder—here we use the bundled sandbox stand-in for the GitHub URL. List src, tb, and scripts, run make test, pass check-ready, then create a lab branch and show status.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push assignments into the curriculum learn Git repository—use your template fork. Always clone with recurse submodules or run submodule init afterward, or shared-ip stays empty. Run make and check-ready from the repo root, not a subdirectory. And remember: this is rehearsal—follow course policy on whether a practice PR is required or explore-only is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sandbox checklist on your fork or an explore-only clone. Clone with submodules, run make test, and describe clone to make to pull request in your own words. When you are ready, take the short quiz, then continue to the wrap module on completing the Git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Live sandbox capstone</a:t>
            </a:r>
          </a:p>
          <a:p>
            <a:pPr algn="ctr">
              <a:lnSpc>
                <a:spcPts val="2200"/>
              </a:lnSpc>
              <a:spcBef>
                <a:spcPts val="1400"/>
              </a:spcBef>
            </a:pPr>
            <a:r>
              <a:rPr sz="2600" b="0">
                <a:solidFill>
                  <a:srgbClr val="333333"/>
                </a:solidFill>
                <a:latin typeface="Calibri"/>
              </a:rPr>
              <a:t>Browser labs taught the ideas, now you rehearse on a real GitHub template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Sandbox, not the curriculum repo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learn Git course tree is for reading modules and local examples</a:t>
            </a:r>
          </a:p>
          <a:p>
            <a:pPr lvl="0" marL="457200" indent="-228600">
              <a:buFont typeface="Calibri"/>
              <a:spcAft>
                <a:spcPts val="1000"/>
              </a:spcAft>
              <a:buSzPct val="100000"/>
              <a:buChar char="•"/>
              <a:lnSpc>
                <a:spcPts val="2200"/>
              </a:lnSpc>
            </a:pPr>
            <a:r>
              <a:rPr sz="2000" b="0">
                <a:solidFill>
                  <a:srgbClr val="333333"/>
                </a:solidFill>
                <a:latin typeface="Calibri"/>
              </a:rPr>
              <a:t>The org template is your practice surface</a:t>
            </a:r>
          </a:p>
          <a:p>
            <a:pPr lvl="0" marL="457200" indent="-228600">
              <a:buFont typeface="Calibri"/>
              <a:spcAft>
                <a:spcPts val="1000"/>
              </a:spcAft>
              <a:buSzPct val="100000"/>
              <a:buChar char="•"/>
              <a:lnSpc>
                <a:spcPts val="2200"/>
              </a:lnSpc>
            </a:pPr>
            <a:r>
              <a:rPr sz="2000" b="0">
                <a:solidFill>
                  <a:srgbClr val="333333"/>
                </a:solidFill>
                <a:latin typeface="Calibri"/>
              </a:rPr>
              <a:t>That gives you src, tb, scripts</a:t>
            </a:r>
          </a:p>
          <a:p>
            <a:pPr lvl="0" marL="457200" indent="-228600">
              <a:buFont typeface="Calibri"/>
              <a:spcAft>
                <a:spcPts val="1000"/>
              </a:spcAft>
              <a:buSzPct val="100000"/>
              <a:buChar char="•"/>
              <a:lnSpc>
                <a:spcPts val="2200"/>
              </a:lnSpc>
            </a:pPr>
            <a:r>
              <a:rPr sz="2000" b="0">
                <a:solidFill>
                  <a:srgbClr val="333333"/>
                </a:solidFill>
                <a:latin typeface="Calibri"/>
              </a:rPr>
              <a:t>Read the sandbox note once so you know which URL is which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Capstone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end-to-end rhythm</a:t>
            </a:r>
          </a:p>
          <a:p>
            <a:pPr lvl="0" marL="457200" indent="-228600">
              <a:buFont typeface="Calibri"/>
              <a:spcAft>
                <a:spcPts val="1000"/>
              </a:spcAft>
              <a:buSzPct val="100000"/>
              <a:buChar char="•"/>
              <a:lnSpc>
                <a:spcPts val="2200"/>
              </a:lnSpc>
            </a:pPr>
            <a:r>
              <a:rPr sz="2000" b="0">
                <a:solidFill>
                  <a:srgbClr val="333333"/>
                </a:solidFill>
                <a:latin typeface="Calibri"/>
              </a:rPr>
              <a:t>On GitHub, generate your repo from the unix-git-practice template</a:t>
            </a:r>
          </a:p>
          <a:p>
            <a:pPr lvl="0" marL="457200" indent="-228600">
              <a:buFont typeface="Calibri"/>
              <a:spcAft>
                <a:spcPts val="1000"/>
              </a:spcAft>
              <a:buSzPct val="100000"/>
              <a:buChar char="•"/>
              <a:lnSpc>
                <a:spcPts val="2200"/>
              </a:lnSpc>
            </a:pPr>
            <a:r>
              <a:rPr sz="2000" b="0">
                <a:solidFill>
                  <a:srgbClr val="333333"/>
                </a:solidFill>
                <a:latin typeface="Calibri"/>
              </a:rPr>
              <a:t>Clone with recurse submodules so shared-ip is populated</a:t>
            </a:r>
          </a:p>
          <a:p>
            <a:pPr lvl="0" marL="457200" indent="-228600">
              <a:buFont typeface="Calibri"/>
              <a:spcAft>
                <a:spcPts val="1000"/>
              </a:spcAft>
              <a:buSzPct val="100000"/>
              <a:buChar char="•"/>
              <a:lnSpc>
                <a:spcPts val="2200"/>
              </a:lnSpc>
            </a:pPr>
            <a:r>
              <a:rPr sz="2000" b="0">
                <a:solidFill>
                  <a:srgbClr val="333333"/>
                </a:solidFill>
                <a:latin typeface="Calibri"/>
              </a:rPr>
              <a:t>Change into the project and run make test to exercise the stub build and demo script</a:t>
            </a:r>
          </a:p>
          <a:p>
            <a:pPr lvl="0" marL="457200" indent="-228600">
              <a:buFont typeface="Calibri"/>
              <a:spcAft>
                <a:spcPts val="1000"/>
              </a:spcAft>
              <a:buSzPct val="100000"/>
              <a:buChar char="•"/>
              <a:lnSpc>
                <a:spcPts val="2200"/>
              </a:lnSpc>
            </a:pPr>
            <a:r>
              <a:rPr sz="2000" b="0">
                <a:solidFill>
                  <a:srgbClr val="333333"/>
                </a:solidFill>
                <a:latin typeface="Calibri"/>
              </a:rPr>
              <a:t>Run the check-ready script before you push</a:t>
            </a:r>
          </a:p>
          <a:p>
            <a:pPr lvl="0" marL="457200" indent="-228600">
              <a:buFont typeface="Calibri"/>
              <a:spcAft>
                <a:spcPts val="1000"/>
              </a:spcAft>
              <a:buSzPct val="100000"/>
              <a:buChar char="•"/>
              <a:lnSpc>
                <a:spcPts val="2200"/>
              </a:lnSpc>
            </a:pPr>
            <a:r>
              <a:rPr sz="2000" b="0">
                <a:solidFill>
                  <a:srgbClr val="333333"/>
                </a:solidFill>
                <a:latin typeface="Calibri"/>
              </a:rPr>
              <a:t>Create a lab branch, commit a small change, push to your fork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26616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clone template, make test, lab branch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clone --recurse-submodules &lt;your-template-url&gt; my-practice</a:t>
            </a:r>
          </a:p>
          <a:p>
            <a:pPr>
              <a:lnSpc>
                <a:spcPts val="2200"/>
              </a:lnSpc>
              <a:spcAft>
                <a:spcPts val="600"/>
              </a:spcAft>
            </a:pPr>
            <a:r>
              <a:rPr sz="2000" b="0">
                <a:solidFill>
                  <a:srgbClr val="333333"/>
                </a:solidFill>
                <a:latin typeface="Consolas"/>
              </a:rPr>
              <a:t>git clone --recurse-submodules &lt;your-template-url&gt; my-practice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my-practice — enter the cloned sandbox</a:t>
            </a:r>
          </a:p>
          <a:p>
            <a:pPr>
              <a:lnSpc>
                <a:spcPts val="2200"/>
              </a:lnSpc>
              <a:spcAft>
                <a:spcPts val="600"/>
              </a:spcAft>
            </a:pPr>
            <a:r>
              <a:rPr sz="2000" b="0">
                <a:solidFill>
                  <a:srgbClr val="333333"/>
                </a:solidFill>
                <a:latin typeface="Consolas"/>
              </a:rPr>
              <a:t>cd my-practice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src tb scripts external/shared-ip — map the layout</a:t>
            </a:r>
          </a:p>
          <a:p>
            <a:pPr>
              <a:lnSpc>
                <a:spcPts val="2200"/>
              </a:lnSpc>
              <a:spcAft>
                <a:spcPts val="600"/>
              </a:spcAft>
            </a:pPr>
            <a:r>
              <a:rPr sz="2000" b="0">
                <a:solidFill>
                  <a:srgbClr val="333333"/>
                </a:solidFill>
                <a:latin typeface="Consolas"/>
              </a:rPr>
              <a:t>ls src tb scripts external/shared-ip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test — run stub build and demo checks</a:t>
            </a:r>
          </a:p>
          <a:p>
            <a:pPr>
              <a:lnSpc>
                <a:spcPts val="2200"/>
              </a:lnSpc>
              <a:spcAft>
                <a:spcPts val="600"/>
              </a:spcAft>
            </a:pPr>
            <a:r>
              <a:rPr sz="2000" b="0">
                <a:solidFill>
                  <a:srgbClr val="333333"/>
                </a:solidFill>
                <a:latin typeface="Consolas"/>
              </a:rPr>
              <a:t>make test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bash scripts/check_ready.sh — pre-push readiness script</a:t>
            </a:r>
          </a:p>
          <a:p>
            <a:pPr>
              <a:lnSpc>
                <a:spcPts val="2200"/>
              </a:lnSpc>
              <a:spcAft>
                <a:spcPts val="600"/>
              </a:spcAft>
            </a:pPr>
            <a:r>
              <a:rPr sz="2000" b="0">
                <a:solidFill>
                  <a:srgbClr val="333333"/>
                </a:solidFill>
                <a:latin typeface="Consolas"/>
              </a:rPr>
              <a:t>bash scripts/check_ready.sh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-b lab1 — branch for lab work</a:t>
            </a:r>
          </a:p>
          <a:p>
            <a:pPr>
              <a:lnSpc>
                <a:spcPts val="2200"/>
              </a:lnSpc>
              <a:spcAft>
                <a:spcPts val="600"/>
              </a:spcAft>
            </a:pPr>
            <a:r>
              <a:rPr sz="2000" b="0">
                <a:solidFill>
                  <a:srgbClr val="333333"/>
                </a:solidFill>
                <a:latin typeface="Consolas"/>
              </a:rPr>
              <a:t>git checkout -b lab1</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confirm branch and working tree</a:t>
            </a:r>
          </a:p>
          <a:p>
            <a:pPr>
              <a:lnSpc>
                <a:spcPts val="2200"/>
              </a:lnSpc>
              <a:spcAft>
                <a:spcPts val="600"/>
              </a:spcAft>
            </a:pPr>
            <a:r>
              <a:rPr sz="2000" b="0">
                <a:solidFill>
                  <a:srgbClr val="333333"/>
                </a:solidFill>
                <a:latin typeface="Consolas"/>
              </a:rPr>
              <a:t>git status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push assignments into the curriculum learn Git repository, use your template fork</a:t>
            </a:r>
          </a:p>
          <a:p>
            <a:pPr lvl="0" marL="457200" indent="-228600">
              <a:buFont typeface="Calibri"/>
              <a:spcAft>
                <a:spcPts val="1000"/>
              </a:spcAft>
              <a:buSzPct val="100000"/>
              <a:buChar char="•"/>
              <a:lnSpc>
                <a:spcPts val="2200"/>
              </a:lnSpc>
            </a:pPr>
            <a:r>
              <a:rPr sz="2000" b="0">
                <a:solidFill>
                  <a:srgbClr val="333333"/>
                </a:solidFill>
                <a:latin typeface="Calibri"/>
              </a:rPr>
              <a:t>Always clone with recurse submodules or run submodule init afterward</a:t>
            </a:r>
          </a:p>
          <a:p>
            <a:pPr lvl="0" marL="457200" indent="-228600">
              <a:buFont typeface="Calibri"/>
              <a:spcAft>
                <a:spcPts val="1000"/>
              </a:spcAft>
              <a:buSzPct val="100000"/>
              <a:buChar char="•"/>
              <a:lnSpc>
                <a:spcPts val="2200"/>
              </a:lnSpc>
            </a:pPr>
            <a:r>
              <a:rPr sz="2000" b="0">
                <a:solidFill>
                  <a:srgbClr val="333333"/>
                </a:solidFill>
                <a:latin typeface="Calibri"/>
              </a:rPr>
              <a:t>Run make and check-ready from the repo root, not a subdirectory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sandbox checklist on your fork or an explore-only clone</a:t>
            </a:r>
          </a:p>
          <a:p>
            <a:pPr lvl="0" marL="457200" indent="-228600">
              <a:buFont typeface="Calibri"/>
              <a:spcAft>
                <a:spcPts val="1000"/>
              </a:spcAft>
              <a:buSzPct val="100000"/>
              <a:buChar char="•"/>
              <a:lnSpc>
                <a:spcPts val="2200"/>
              </a:lnSpc>
            </a:pPr>
            <a:r>
              <a:rPr sz="2000" b="0">
                <a:solidFill>
                  <a:srgbClr val="333333"/>
                </a:solidFill>
                <a:latin typeface="Calibri"/>
              </a:rPr>
              <a:t>Clone with submodules, run make test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sandbox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