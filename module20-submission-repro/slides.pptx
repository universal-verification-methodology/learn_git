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push or zip a lab, ask: can a grader reproduce your result from a clean checkout? That means a working tree without stray junk, scripts run from the repo root, and evidence captured in a log file. Secrets stay out—ship env example, not your real env file. This module trains the pre-submission checklist so your GitHub repo matches what you actually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status and confirm build artifacts and logs are gitignored, not accidentally staged. Remove local secrets and scratch files graders should never see. Run demo or test scripts from the repository root so relative paths match the README. Capture stdout and stderr with tee into run dot log so reviewers see what you saw. Then push and verify on the host that only the right files and commits appear.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example—a lab repo with source plus junk, a local env file, and no run log yet. Look at the submit checklist, the file tree, and the challenge panel above. Clean junk, run from root with tee, and pass the ready checks. Use Check when your tree matches the challenge. You do not need a full tour here—the lab itself guides the rest. Work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start in a small chip-lab repo with gitignore rules for build and logs. Check status, read gitignore, run the demo script from the repo root and tee output to run dot log. Show a short log tail and status again so you know what you would push.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scripts from a subdirectory breaks relative paths—check pwd first. Never commit env files with real tokens; copy from env example instead. A dirty tree with surprise untracked files means you might zip or push the wrong snapshot. Capture the log only after a successful root run, not from a failed attempt in the wrong folder. And remember: the browser lab is for literacy—real submissions still need your sandbox push and GitHub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get to ready with a clean tree and run dot log. On real Git, practice status, root run, and log capture before push. When you are ready, take the short quiz, then continue to the live sandbox module on clone, make, and pull request.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Submission reproducibility</a:t>
            </a:r>
          </a:p>
          <a:p>
            <a:pPr algn="ctr">
              <a:lnSpc>
                <a:spcPts val="2200"/>
              </a:lnSpc>
              <a:spcBef>
                <a:spcPts val="1400"/>
              </a:spcBef>
            </a:pPr>
            <a:r>
              <a:rPr sz="2600" b="0">
                <a:solidFill>
                  <a:srgbClr val="333333"/>
                </a:solidFill>
                <a:latin typeface="Calibri"/>
              </a:rPr>
              <a:t>Before you push or zip a lab, ask: can a grader reproduce your result from a clean checkout?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submission repro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Clean, root, log, push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 status and confirm build artifacts and logs are gitignored, not accidentally staged</a:t>
            </a:r>
          </a:p>
          <a:p>
            <a:pPr lvl="0" marL="457200" indent="-228600">
              <a:buFont typeface="Calibri"/>
              <a:spcAft>
                <a:spcPts val="1000"/>
              </a:spcAft>
              <a:buSzPct val="100000"/>
              <a:buChar char="•"/>
              <a:lnSpc>
                <a:spcPts val="2200"/>
              </a:lnSpc>
            </a:pPr>
            <a:r>
              <a:rPr sz="2000" b="0">
                <a:solidFill>
                  <a:srgbClr val="333333"/>
                </a:solidFill>
                <a:latin typeface="Calibri"/>
              </a:rPr>
              <a:t>Remove local secrets and scratch files graders should never see</a:t>
            </a:r>
          </a:p>
          <a:p>
            <a:pPr lvl="0" marL="457200" indent="-228600">
              <a:buFont typeface="Calibri"/>
              <a:spcAft>
                <a:spcPts val="1000"/>
              </a:spcAft>
              <a:buSzPct val="100000"/>
              <a:buChar char="•"/>
              <a:lnSpc>
                <a:spcPts val="2200"/>
              </a:lnSpc>
            </a:pPr>
            <a:r>
              <a:rPr sz="2000" b="0">
                <a:solidFill>
                  <a:srgbClr val="333333"/>
                </a:solidFill>
                <a:latin typeface="Calibri"/>
              </a:rPr>
              <a:t>Run demo or test scripts from the repository root so relative paths match the README</a:t>
            </a:r>
          </a:p>
          <a:p>
            <a:pPr lvl="0" marL="457200" indent="-228600">
              <a:buFont typeface="Calibri"/>
              <a:spcAft>
                <a:spcPts val="1000"/>
              </a:spcAft>
              <a:buSzPct val="100000"/>
              <a:buChar char="•"/>
              <a:lnSpc>
                <a:spcPts val="2200"/>
              </a:lnSpc>
            </a:pPr>
            <a:r>
              <a:rPr sz="2000" b="0">
                <a:solidFill>
                  <a:srgbClr val="333333"/>
                </a:solidFill>
                <a:latin typeface="Calibri"/>
              </a:rPr>
              <a:t>Capture stdout and stderr with tee into run dot log so reviewers see what you saw</a:t>
            </a:r>
          </a:p>
          <a:p>
            <a:pPr lvl="0" marL="457200" indent="-228600">
              <a:buFont typeface="Calibri"/>
              <a:spcAft>
                <a:spcPts val="1000"/>
              </a:spcAft>
              <a:buSzPct val="100000"/>
              <a:buChar char="•"/>
              <a:lnSpc>
                <a:spcPts val="2200"/>
              </a:lnSpc>
            </a:pPr>
            <a:r>
              <a:rPr sz="2000" b="0">
                <a:solidFill>
                  <a:srgbClr val="333333"/>
                </a:solidFill>
                <a:latin typeface="Calibri"/>
              </a:rPr>
              <a:t>Then push and verify on the host that only the right files and commits appear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submission repro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Submission reproducibility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submission repro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739844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clean tree, run from root, capture log</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submission repro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status — see tracked vs ignored files before submit</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cat .gitignore — confirm build/, logs/, and .env are excluded</a:t>
            </a:r>
          </a:p>
          <a:p>
            <a:pPr>
              <a:lnSpc>
                <a:spcPts val="2200"/>
              </a:lnSpc>
              <a:spcAft>
                <a:spcPts val="600"/>
              </a:spcAft>
            </a:pPr>
            <a:r>
              <a:rPr sz="2000" b="0">
                <a:solidFill>
                  <a:srgbClr val="333333"/>
                </a:solidFill>
                <a:latin typeface="Consolas"/>
              </a:rPr>
              <a:t>cat .gitignore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bash scripts/run_demo.sh — run the demo from repo root</a:t>
            </a:r>
          </a:p>
          <a:p>
            <a:pPr>
              <a:lnSpc>
                <a:spcPts val="2200"/>
              </a:lnSpc>
              <a:spcAft>
                <a:spcPts val="600"/>
              </a:spcAft>
            </a:pPr>
            <a:r>
              <a:rPr sz="2000" b="0">
                <a:solidFill>
                  <a:srgbClr val="333333"/>
                </a:solidFill>
                <a:latin typeface="Consolas"/>
              </a:rPr>
              <a:t>bash scripts/run_demo.sh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bash scripts/run_demo.sh 2&gt;&amp;1 | tee run.log — capture stdout and</a:t>
            </a:r>
          </a:p>
          <a:p>
            <a:pPr>
              <a:lnSpc>
                <a:spcPts val="2200"/>
              </a:lnSpc>
              <a:spcAft>
                <a:spcPts val="600"/>
              </a:spcAft>
            </a:pPr>
            <a:r>
              <a:rPr sz="2000" b="0">
                <a:solidFill>
                  <a:srgbClr val="333333"/>
                </a:solidFill>
                <a:latin typeface="Consolas"/>
              </a:rPr>
              <a:t>stderr</a:t>
            </a:r>
          </a:p>
          <a:p>
            <a:pPr>
              <a:lnSpc>
                <a:spcPts val="2200"/>
              </a:lnSpc>
              <a:spcAft>
                <a:spcPts val="600"/>
              </a:spcAft>
            </a:pPr>
            <a:r>
              <a:rPr sz="2000" b="0">
                <a:solidFill>
                  <a:srgbClr val="333333"/>
                </a:solidFill>
                <a:latin typeface="Consolas"/>
              </a:rPr>
              <a:t>bash scripts/run_demo.sh 2&gt;&amp;1 | tee run.log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tail run.log — verify the log captured success output</a:t>
            </a:r>
          </a:p>
          <a:p>
            <a:pPr>
              <a:lnSpc>
                <a:spcPts val="2200"/>
              </a:lnSpc>
              <a:spcAft>
                <a:spcPts val="600"/>
              </a:spcAft>
            </a:pPr>
            <a:r>
              <a:rPr sz="2000" b="0">
                <a:solidFill>
                  <a:srgbClr val="333333"/>
                </a:solidFill>
                <a:latin typeface="Consolas"/>
              </a:rPr>
              <a:t>tail run.log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log --oneline -3 — confirm recent commits look right</a:t>
            </a:r>
          </a:p>
          <a:p>
            <a:pPr>
              <a:lnSpc>
                <a:spcPts val="2200"/>
              </a:lnSpc>
              <a:spcAft>
                <a:spcPts val="600"/>
              </a:spcAft>
            </a:pPr>
            <a:r>
              <a:rPr sz="2000" b="0">
                <a:solidFill>
                  <a:srgbClr val="333333"/>
                </a:solidFill>
                <a:latin typeface="Consolas"/>
              </a:rPr>
              <a:t>git log --oneline -3</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push origin main — publish when checks pass (needs remote)</a:t>
            </a:r>
          </a:p>
          <a:p>
            <a:pPr>
              <a:lnSpc>
                <a:spcPts val="2200"/>
              </a:lnSpc>
              <a:spcAft>
                <a:spcPts val="600"/>
              </a:spcAft>
            </a:pPr>
            <a:r>
              <a:rPr sz="2000" b="0">
                <a:solidFill>
                  <a:srgbClr val="333333"/>
                </a:solidFill>
                <a:latin typeface="Consolas"/>
              </a:rPr>
              <a:t>git push origin main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submission repro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Running scripts from a subdirectory breaks relative paths, check pwd first</a:t>
            </a:r>
          </a:p>
          <a:p>
            <a:pPr lvl="0" marL="457200" indent="-228600">
              <a:buFont typeface="Calibri"/>
              <a:spcAft>
                <a:spcPts val="1000"/>
              </a:spcAft>
              <a:buSzPct val="100000"/>
              <a:buChar char="•"/>
              <a:lnSpc>
                <a:spcPts val="2200"/>
              </a:lnSpc>
            </a:pPr>
            <a:r>
              <a:rPr sz="2000" b="0">
                <a:solidFill>
                  <a:srgbClr val="333333"/>
                </a:solidFill>
                <a:latin typeface="Calibri"/>
              </a:rPr>
              <a:t>Never commit env files with real tokens; copy from env example instead</a:t>
            </a:r>
          </a:p>
          <a:p>
            <a:pPr lvl="0" marL="457200" indent="-228600">
              <a:buFont typeface="Calibri"/>
              <a:spcAft>
                <a:spcPts val="1000"/>
              </a:spcAft>
              <a:buSzPct val="100000"/>
              <a:buChar char="•"/>
              <a:lnSpc>
                <a:spcPts val="2200"/>
              </a:lnSpc>
            </a:pPr>
            <a:r>
              <a:rPr sz="2000" b="0">
                <a:solidFill>
                  <a:srgbClr val="333333"/>
                </a:solidFill>
                <a:latin typeface="Calibri"/>
              </a:rPr>
              <a:t>A dirty tree with surprise untracked files means you might zip or push the wrong snapshot</a:t>
            </a:r>
          </a:p>
          <a:p>
            <a:pPr lvl="0" marL="457200" indent="-228600">
              <a:buFont typeface="Calibri"/>
              <a:spcAft>
                <a:spcPts val="1000"/>
              </a:spcAft>
              <a:buSzPct val="100000"/>
              <a:buChar char="•"/>
              <a:lnSpc>
                <a:spcPts val="2200"/>
              </a:lnSpc>
            </a:pPr>
            <a:r>
              <a:rPr sz="2000" b="0">
                <a:solidFill>
                  <a:srgbClr val="333333"/>
                </a:solidFill>
                <a:latin typeface="Calibri"/>
              </a:rPr>
              <a:t>Capture the log only after a successful root run</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submission repro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get to ready with a clean tree and run dot log</a:t>
            </a:r>
          </a:p>
          <a:p>
            <a:pPr lvl="0" marL="457200" indent="-228600">
              <a:buFont typeface="Calibri"/>
              <a:spcAft>
                <a:spcPts val="1000"/>
              </a:spcAft>
              <a:buSzPct val="100000"/>
              <a:buChar char="•"/>
              <a:lnSpc>
                <a:spcPts val="2200"/>
              </a:lnSpc>
            </a:pPr>
            <a:r>
              <a:rPr sz="2000" b="0">
                <a:solidFill>
                  <a:srgbClr val="333333"/>
                </a:solidFill>
                <a:latin typeface="Calibri"/>
              </a:rPr>
              <a:t>On real Git, practice status, root run, and log capture before push</a:t>
            </a:r>
          </a:p>
          <a:p>
            <a:pPr lvl="0" marL="457200" indent="-228600">
              <a:buFont typeface="Calibri"/>
              <a:spcAft>
                <a:spcPts val="1000"/>
              </a:spcAft>
              <a:buSzPct val="100000"/>
              <a:buChar char="•"/>
              <a:lnSpc>
                <a:spcPts val="2200"/>
              </a:lnSpc>
            </a:pPr>
            <a:r>
              <a:rPr sz="2000" b="0">
                <a:solidFill>
                  <a:srgbClr val="333333"/>
                </a:solidFill>
                <a:latin typeface="Calibri"/>
              </a:rPr>
              <a:t>Pull request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submission repro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