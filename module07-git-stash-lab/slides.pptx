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Sometimes you are mid-edit and need a clean tree—to switch branches, pull updates, or run a quick experiment. Stash saves your uncommitted work on a side stack and restores a clean working tree. This module practices push, list, apply, and pop so you can pause without committing half-baked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Stash push saves tracked dirty files and resets the working tree to match HEAD. Stash list shows the stack—newest on top. Stash pop applies the top entry and removes it from the stack; stash apply puts changes back but leaves the entry for safety. By default stash does not include untracked files; add minus u when you need those too.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working-tree panel, and the stash stack with push, pop, and apply buttons. Load the starter example, stash a dirty edit, then pop or apply it back.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create a tiny repo with one committed notes file. Edit the file so status shows a modification, then stash push with a short message so the tree goes clean. List the stash to see your entry, then pop to restore the edits and remove that stash from the stack. That pause-and-resume rhythm is what you want before switching branches or pulling.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stash and forget—run stash list so old entries do not pile up. Remember pop can conflict if the branch moved; apply is gentler while you are learning. Untracked files need stash push with minus u. And remember: the browser lab is for literacy—real branch switches still need stash in a real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push-then-pop challenge. On real Git, stash, list, and pop in your practice tree. When you are ready, take the short quiz, then continue to the next module on tags.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Stash scenarios</a:t>
            </a:r>
          </a:p>
          <a:p>
            <a:pPr algn="ctr">
              <a:lnSpc>
                <a:spcPts val="2200"/>
              </a:lnSpc>
              <a:spcBef>
                <a:spcPts val="1400"/>
              </a:spcBef>
            </a:pPr>
            <a:r>
              <a:rPr sz="2600" b="0">
                <a:solidFill>
                  <a:srgbClr val="333333"/>
                </a:solidFill>
                <a:latin typeface="Calibri"/>
              </a:rPr>
              <a:t>Sometimes you are mid-edit and need a clean tree, to switch branches, pull updates, or run a quick experiment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Push, list, then pop or apply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Stash push saves tracked dirty files and resets the working tree to match HEAD</a:t>
            </a:r>
          </a:p>
          <a:p>
            <a:pPr lvl="0" marL="457200" indent="-228600">
              <a:buFont typeface="Calibri"/>
              <a:spcAft>
                <a:spcPts val="1000"/>
              </a:spcAft>
              <a:buSzPct val="100000"/>
              <a:buChar char="•"/>
              <a:lnSpc>
                <a:spcPts val="2200"/>
              </a:lnSpc>
            </a:pPr>
            <a:r>
              <a:rPr sz="2000" b="0">
                <a:solidFill>
                  <a:srgbClr val="333333"/>
                </a:solidFill>
                <a:latin typeface="Calibri"/>
              </a:rPr>
              <a:t>Stash list shows the stack, newest on top</a:t>
            </a:r>
          </a:p>
          <a:p>
            <a:pPr lvl="0" marL="457200" indent="-228600">
              <a:buFont typeface="Calibri"/>
              <a:spcAft>
                <a:spcPts val="1000"/>
              </a:spcAft>
              <a:buSzPct val="100000"/>
              <a:buChar char="•"/>
              <a:lnSpc>
                <a:spcPts val="2200"/>
              </a:lnSpc>
            </a:pPr>
            <a:r>
              <a:rPr sz="2000" b="0">
                <a:solidFill>
                  <a:srgbClr val="333333"/>
                </a:solidFill>
                <a:latin typeface="Calibri"/>
              </a:rPr>
              <a:t>Stash pop applies the top entry and removes it from the stack</a:t>
            </a:r>
          </a:p>
          <a:p>
            <a:pPr lvl="0" marL="457200" indent="-228600">
              <a:buFont typeface="Calibri"/>
              <a:spcAft>
                <a:spcPts val="1000"/>
              </a:spcAft>
              <a:buSzPct val="100000"/>
              <a:buChar char="•"/>
              <a:lnSpc>
                <a:spcPts val="2200"/>
              </a:lnSpc>
            </a:pPr>
            <a:r>
              <a:rPr sz="2000" b="0">
                <a:solidFill>
                  <a:srgbClr val="333333"/>
                </a:solidFill>
                <a:latin typeface="Calibri"/>
              </a:rPr>
              <a:t>By default stash does not include untracked files; add minus u when you need those too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Stash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4116294"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stash push, list, pop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create and commit a tracked file</a:t>
            </a:r>
          </a:p>
          <a:p>
            <a:pPr>
              <a:lnSpc>
                <a:spcPts val="2200"/>
              </a:lnSpc>
              <a:spcAft>
                <a:spcPts val="600"/>
              </a:spcAft>
            </a:pPr>
            <a:r>
              <a:rPr sz="2000" b="0">
                <a:solidFill>
                  <a:srgbClr val="333333"/>
                </a:solidFill>
                <a:latin typeface="Consolas"/>
              </a:rPr>
              <a:t>echo "v1"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"Add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&gt;&gt; notes.md — edit without committing</a:t>
            </a:r>
          </a:p>
          <a:p>
            <a:pPr>
              <a:lnSpc>
                <a:spcPts val="2200"/>
              </a:lnSpc>
              <a:spcAft>
                <a:spcPts val="600"/>
              </a:spcAft>
            </a:pPr>
            <a:r>
              <a:rPr sz="2000" b="0">
                <a:solidFill>
                  <a:srgbClr val="333333"/>
                </a:solidFill>
                <a:latin typeface="Consolas"/>
              </a:rPr>
              <a:t>echo "wip draft" &gt;&gt;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see modified, not staged</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stash push -m "WIP notes" — save dirty tree, clean working tree</a:t>
            </a:r>
          </a:p>
          <a:p>
            <a:pPr>
              <a:lnSpc>
                <a:spcPts val="2200"/>
              </a:lnSpc>
              <a:spcAft>
                <a:spcPts val="600"/>
              </a:spcAft>
            </a:pPr>
            <a:r>
              <a:rPr sz="2000" b="0">
                <a:solidFill>
                  <a:srgbClr val="333333"/>
                </a:solidFill>
                <a:latin typeface="Consolas"/>
              </a:rPr>
              <a:t>git stash push -m "WIP notes"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status — working tree should be clean</a:t>
            </a:r>
          </a:p>
          <a:p>
            <a:pPr>
              <a:lnSpc>
                <a:spcPts val="2200"/>
              </a:lnSpc>
              <a:spcAft>
                <a:spcPts val="600"/>
              </a:spcAft>
            </a:pPr>
            <a:r>
              <a:rPr sz="2000" b="0">
                <a:solidFill>
                  <a:srgbClr val="333333"/>
                </a:solidFill>
                <a:latin typeface="Consolas"/>
              </a:rPr>
              <a:t>git status</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stash and forget, run stash list so old entries do not pile up</a:t>
            </a:r>
          </a:p>
          <a:p>
            <a:pPr lvl="0" marL="457200" indent="-228600">
              <a:buFont typeface="Calibri"/>
              <a:spcAft>
                <a:spcPts val="1000"/>
              </a:spcAft>
              <a:buSzPct val="100000"/>
              <a:buChar char="•"/>
              <a:lnSpc>
                <a:spcPts val="2200"/>
              </a:lnSpc>
            </a:pPr>
            <a:r>
              <a:rPr sz="2000" b="0">
                <a:solidFill>
                  <a:srgbClr val="333333"/>
                </a:solidFill>
                <a:latin typeface="Calibri"/>
              </a:rPr>
              <a:t>Remember pop can conflict if the branch moved; apply is gentler while you are learning</a:t>
            </a:r>
          </a:p>
          <a:p>
            <a:pPr lvl="0" marL="457200" indent="-228600">
              <a:buFont typeface="Calibri"/>
              <a:spcAft>
                <a:spcPts val="1000"/>
              </a:spcAft>
              <a:buSzPct val="100000"/>
              <a:buChar char="•"/>
              <a:lnSpc>
                <a:spcPts val="2200"/>
              </a:lnSpc>
            </a:pPr>
            <a:r>
              <a:rPr sz="2000" b="0">
                <a:solidFill>
                  <a:srgbClr val="333333"/>
                </a:solidFill>
                <a:latin typeface="Calibri"/>
              </a:rPr>
              <a:t>Untracked files need stash push with minus u</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push-then-pop challenge</a:t>
            </a:r>
          </a:p>
          <a:p>
            <a:pPr lvl="0" marL="457200" indent="-228600">
              <a:buFont typeface="Calibri"/>
              <a:spcAft>
                <a:spcPts val="1000"/>
              </a:spcAft>
              <a:buSzPct val="100000"/>
              <a:buChar char="•"/>
              <a:lnSpc>
                <a:spcPts val="2200"/>
              </a:lnSpc>
            </a:pPr>
            <a:r>
              <a:rPr sz="2000" b="0">
                <a:solidFill>
                  <a:srgbClr val="333333"/>
                </a:solidFill>
                <a:latin typeface="Calibri"/>
              </a:rPr>
              <a:t>On real Git, stash, list, and pop in your practice tree</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next module on tags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stash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