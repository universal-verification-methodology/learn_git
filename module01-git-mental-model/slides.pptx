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module is the picture you keep in your head while you use Git. Coursework is not only “save the file”—you move changes from the files on disk, through a staging area, into a commit you can explain later. We will use the browser lab for intuition, then the same flow on real Git.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Git keeps three related views of a project. The working tree is what you see and edit on disk. The staging area—also called the index—is what you have prepared for the next snapshot. HEAD is the last commit: the durable history you already recorded. You move content forward with add, then commit. You can move it back with restore when you need to undo a step safely.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look at three pieces: the challenge card, the three-trees diagram—working tree, index, and HEAD—and the edit and move buttons under it. Load the starter example so all three layers match. Try one small edit, then add, then commit, and use Check when you think the challenge is done. You do not need a full tour here—the lab itself guides the rest. Explore a few challenges, then come back for the real Git track.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Git track, open a terminal and confirm Git is installed by asking for its version. Then create a tiny practice repo, write a short note file, and run status so you can see what is untracked in the working tree. Add that file to stage it for the next commit, run status again to see it staged, then commit with a short message to record a snapshot in history. Finally, show a one-line log so you can see that commit in the chain. Those moves—status, add, commit—are the muscle you will reuse in every later module.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treat the staging area as optional decoration—commit only records what you staged. Do not confuse “saved in the editor” with “committed in Git.” And remember: the browser lab is for literacy—remotes, pull requests, and submissions still belong on real Git.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load the starter and finish a few challenges. On real Git, repeat status, add, and commit in your practice tree. When you are ready, take the short quiz, then continue to the next module: the graph, stage, and commit playground.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Git mental model</a:t>
            </a:r>
          </a:p>
          <a:p>
            <a:pPr algn="ctr">
              <a:lnSpc>
                <a:spcPts val="2200"/>
              </a:lnSpc>
              <a:spcBef>
                <a:spcPts val="1400"/>
              </a:spcBef>
            </a:pPr>
            <a:r>
              <a:rPr sz="2600" b="0">
                <a:solidFill>
                  <a:srgbClr val="333333"/>
                </a:solidFill>
                <a:latin typeface="Calibri"/>
              </a:rPr>
              <a:t>This module is the picture you keep in your head while you use Git</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git mental model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Three places for your changes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Git keeps three related views of a project</a:t>
            </a:r>
          </a:p>
          <a:p>
            <a:pPr lvl="0" marL="457200" indent="-228600">
              <a:buFont typeface="Calibri"/>
              <a:spcAft>
                <a:spcPts val="1000"/>
              </a:spcAft>
              <a:buSzPct val="100000"/>
              <a:buChar char="•"/>
              <a:lnSpc>
                <a:spcPts val="2200"/>
              </a:lnSpc>
            </a:pPr>
            <a:r>
              <a:rPr sz="2000" b="0">
                <a:solidFill>
                  <a:srgbClr val="333333"/>
                </a:solidFill>
                <a:latin typeface="Calibri"/>
              </a:rPr>
              <a:t>The working tree is what you see and edit on disk</a:t>
            </a:r>
          </a:p>
          <a:p>
            <a:pPr lvl="0" marL="457200" indent="-228600">
              <a:buFont typeface="Calibri"/>
              <a:spcAft>
                <a:spcPts val="1000"/>
              </a:spcAft>
              <a:buSzPct val="100000"/>
              <a:buChar char="•"/>
              <a:lnSpc>
                <a:spcPts val="2200"/>
              </a:lnSpc>
            </a:pPr>
            <a:r>
              <a:rPr sz="2000" b="0">
                <a:solidFill>
                  <a:srgbClr val="333333"/>
                </a:solidFill>
                <a:latin typeface="Calibri"/>
              </a:rPr>
              <a:t>The staging area, also called the index, is what you have prepared for the next snapshot</a:t>
            </a:r>
          </a:p>
          <a:p>
            <a:pPr lvl="0" marL="457200" indent="-228600">
              <a:buFont typeface="Calibri"/>
              <a:spcAft>
                <a:spcPts val="1000"/>
              </a:spcAft>
              <a:buSzPct val="100000"/>
              <a:buChar char="•"/>
              <a:lnSpc>
                <a:spcPts val="2200"/>
              </a:lnSpc>
            </a:pPr>
            <a:r>
              <a:rPr sz="2000" b="0">
                <a:solidFill>
                  <a:srgbClr val="333333"/>
                </a:solidFill>
                <a:latin typeface="Calibri"/>
              </a:rPr>
              <a:t>HEAD is the last commit: the durable history you already recorded</a:t>
            </a:r>
          </a:p>
          <a:p>
            <a:pPr lvl="0" marL="457200" indent="-228600">
              <a:buFont typeface="Calibri"/>
              <a:spcAft>
                <a:spcPts val="1000"/>
              </a:spcAft>
              <a:buSzPct val="100000"/>
              <a:buChar char="•"/>
              <a:lnSpc>
                <a:spcPts val="2200"/>
              </a:lnSpc>
            </a:pPr>
            <a:r>
              <a:rPr sz="2000" b="0">
                <a:solidFill>
                  <a:srgbClr val="333333"/>
                </a:solidFill>
                <a:latin typeface="Calibri"/>
              </a:rPr>
              <a:t>You move content forward with add, then commit</a:t>
            </a:r>
          </a:p>
          <a:p>
            <a:pPr lvl="0" marL="457200" indent="-228600">
              <a:buFont typeface="Calibri"/>
              <a:spcAft>
                <a:spcPts val="1000"/>
              </a:spcAft>
              <a:buSzPct val="100000"/>
              <a:buChar char="•"/>
              <a:lnSpc>
                <a:spcPts val="2200"/>
              </a:lnSpc>
            </a:pPr>
            <a:r>
              <a:rPr sz="2000" b="0">
                <a:solidFill>
                  <a:srgbClr val="333333"/>
                </a:solidFill>
                <a:latin typeface="Calibri"/>
              </a:rPr>
              <a:t>You can move it back with restore when you need to undo a step safely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git mental model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65024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Git mental model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git mental model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Git practice</a:t>
            </a:r>
          </a:p>
        </p:txBody>
      </p:sp>
      <p:pic>
        <p:nvPicPr>
          <p:cNvPr id="3" name="Picture 2" descr="real-shell.png"/>
          <p:cNvPicPr>
            <a:picLocks noChangeAspect="1"/>
          </p:cNvPicPr>
          <p:nvPr/>
        </p:nvPicPr>
        <p:blipFill>
          <a:blip r:embed="rId2"/>
          <a:stretch>
            <a:fillRect/>
          </a:stretch>
        </p:blipFill>
        <p:spPr>
          <a:xfrm>
            <a:off x="548640" y="1143000"/>
            <a:ext cx="4896349" cy="4571999"/>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Real shell — init, status, add, commit</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git mental model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Git practice — try these</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600"/>
              </a:spcAft>
            </a:pPr>
            <a:r>
              <a:rPr sz="2000" b="0">
                <a:solidFill>
                  <a:srgbClr val="333333"/>
                </a:solidFill>
                <a:latin typeface="Consolas"/>
              </a:rPr>
              <a:t># git --version — confirm Git is installed</a:t>
            </a:r>
          </a:p>
          <a:p>
            <a:pPr>
              <a:lnSpc>
                <a:spcPts val="2200"/>
              </a:lnSpc>
              <a:spcAft>
                <a:spcPts val="600"/>
              </a:spcAft>
            </a:pPr>
            <a:r>
              <a:rPr sz="2000" b="0">
                <a:solidFill>
                  <a:srgbClr val="333333"/>
                </a:solidFill>
                <a:latin typeface="Consolas"/>
              </a:rPr>
              <a:t>git --version</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git init — create a new repository here</a:t>
            </a:r>
          </a:p>
          <a:p>
            <a:pPr>
              <a:lnSpc>
                <a:spcPts val="2200"/>
              </a:lnSpc>
              <a:spcAft>
                <a:spcPts val="600"/>
              </a:spcAft>
            </a:pPr>
            <a:r>
              <a:rPr sz="2000" b="0">
                <a:solidFill>
                  <a:srgbClr val="333333"/>
                </a:solidFill>
                <a:latin typeface="Consolas"/>
              </a:rPr>
              <a:t>git init</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echo … &gt; note.txt — create a file in the working tree</a:t>
            </a:r>
          </a:p>
          <a:p>
            <a:pPr>
              <a:lnSpc>
                <a:spcPts val="2200"/>
              </a:lnSpc>
              <a:spcAft>
                <a:spcPts val="600"/>
              </a:spcAft>
            </a:pPr>
            <a:r>
              <a:rPr sz="2000" b="0">
                <a:solidFill>
                  <a:srgbClr val="333333"/>
                </a:solidFill>
                <a:latin typeface="Consolas"/>
              </a:rPr>
              <a:t>echo "notes" &gt; note.txt</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git status — what is modified, staged, or untracked?</a:t>
            </a:r>
          </a:p>
          <a:p>
            <a:pPr>
              <a:lnSpc>
                <a:spcPts val="2200"/>
              </a:lnSpc>
              <a:spcAft>
                <a:spcPts val="600"/>
              </a:spcAft>
            </a:pPr>
            <a:r>
              <a:rPr sz="2000" b="0">
                <a:solidFill>
                  <a:srgbClr val="333333"/>
                </a:solidFill>
                <a:latin typeface="Consolas"/>
              </a:rPr>
              <a:t>git status</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git add note.txt — copy the change into the staging area</a:t>
            </a:r>
          </a:p>
          <a:p>
            <a:pPr>
              <a:lnSpc>
                <a:spcPts val="2200"/>
              </a:lnSpc>
              <a:spcAft>
                <a:spcPts val="600"/>
              </a:spcAft>
            </a:pPr>
            <a:r>
              <a:rPr sz="2000" b="0">
                <a:solidFill>
                  <a:srgbClr val="333333"/>
                </a:solidFill>
                <a:latin typeface="Consolas"/>
              </a:rPr>
              <a:t>git add note.txt</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git status — confirm it is staged for commit</a:t>
            </a:r>
          </a:p>
          <a:p>
            <a:pPr>
              <a:lnSpc>
                <a:spcPts val="2200"/>
              </a:lnSpc>
              <a:spcAft>
                <a:spcPts val="600"/>
              </a:spcAft>
            </a:pPr>
            <a:r>
              <a:rPr sz="2000" b="0">
                <a:solidFill>
                  <a:srgbClr val="333333"/>
                </a:solidFill>
                <a:latin typeface="Consolas"/>
              </a:rPr>
              <a:t>git status</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git commit -m "…" — record a snapshot from what is staged</a:t>
            </a:r>
          </a:p>
          <a:p>
            <a:pPr>
              <a:lnSpc>
                <a:spcPts val="2200"/>
              </a:lnSpc>
              <a:spcAft>
                <a:spcPts val="600"/>
              </a:spcAft>
            </a:pPr>
            <a:r>
              <a:rPr sz="2000" b="0">
                <a:solidFill>
                  <a:srgbClr val="333333"/>
                </a:solidFill>
                <a:latin typeface="Consolas"/>
              </a:rPr>
              <a:t>git commit -m "first snapshot"</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git log --oneline — show recent commits, one line each</a:t>
            </a:r>
          </a:p>
          <a:p>
            <a:pPr>
              <a:lnSpc>
                <a:spcPts val="2200"/>
              </a:lnSpc>
              <a:spcAft>
                <a:spcPts val="600"/>
              </a:spcAft>
            </a:pPr>
            <a:r>
              <a:rPr sz="2000" b="0">
                <a:solidFill>
                  <a:srgbClr val="333333"/>
                </a:solidFill>
                <a:latin typeface="Consolas"/>
              </a:rPr>
              <a:t># ...</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git mental model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treat the staging area as optional decoration, commit only records what you staged</a:t>
            </a:r>
          </a:p>
          <a:p>
            <a:pPr lvl="0" marL="457200" indent="-228600">
              <a:buFont typeface="Calibri"/>
              <a:spcAft>
                <a:spcPts val="1000"/>
              </a:spcAft>
              <a:buSzPct val="100000"/>
              <a:buChar char="•"/>
              <a:lnSpc>
                <a:spcPts val="2200"/>
              </a:lnSpc>
            </a:pPr>
            <a:r>
              <a:rPr sz="2000" b="0">
                <a:solidFill>
                  <a:srgbClr val="333333"/>
                </a:solidFill>
                <a:latin typeface="Calibri"/>
              </a:rPr>
              <a:t>Do not confuse “saved in the editor” with “committed in Git.” 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git mental model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load the starter and finish a few challenges</a:t>
            </a:r>
          </a:p>
          <a:p>
            <a:pPr lvl="0" marL="457200" indent="-228600">
              <a:buFont typeface="Calibri"/>
              <a:spcAft>
                <a:spcPts val="1000"/>
              </a:spcAft>
              <a:buSzPct val="100000"/>
              <a:buChar char="•"/>
              <a:lnSpc>
                <a:spcPts val="2200"/>
              </a:lnSpc>
            </a:pPr>
            <a:r>
              <a:rPr sz="2000" b="0">
                <a:solidFill>
                  <a:srgbClr val="333333"/>
                </a:solidFill>
                <a:latin typeface="Calibri"/>
              </a:rPr>
              <a:t>On real Git, repeat status, add, and commit in your practice tree</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the next module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git mental model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